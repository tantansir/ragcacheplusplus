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43891200" cy="2571908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29" d="100"/>
          <a:sy n="29" d="100"/>
        </p:scale>
        <p:origin x="32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95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31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627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2993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25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656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5987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318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650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209121"/>
            <a:ext cx="32918400" cy="8954053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3508477"/>
            <a:ext cx="32918400" cy="6209491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70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41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6411915"/>
            <a:ext cx="37856160" cy="10698424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7211551"/>
            <a:ext cx="37856160" cy="5626049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09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6846517"/>
            <a:ext cx="18653760" cy="16318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6846517"/>
            <a:ext cx="18653760" cy="16318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2201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369305"/>
            <a:ext cx="37856160" cy="49711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6304750"/>
            <a:ext cx="18568033" cy="3089861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9394611"/>
            <a:ext cx="18568033" cy="13818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6304750"/>
            <a:ext cx="18659477" cy="3089861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9394611"/>
            <a:ext cx="18659477" cy="13818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594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3969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272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714606"/>
            <a:ext cx="14156053" cy="6001121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703074"/>
            <a:ext cx="22219920" cy="18277222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715726"/>
            <a:ext cx="14156053" cy="14294338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7711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714606"/>
            <a:ext cx="14156053" cy="6001121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703074"/>
            <a:ext cx="22219920" cy="18277222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715726"/>
            <a:ext cx="14156053" cy="14294338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541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797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369303"/>
            <a:ext cx="9464040" cy="217957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369303"/>
            <a:ext cx="27843480" cy="217957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878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08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369305"/>
            <a:ext cx="37856160" cy="4971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6846517"/>
            <a:ext cx="37856160" cy="1631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3837786"/>
            <a:ext cx="9875520" cy="1369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3837786"/>
            <a:ext cx="14813280" cy="1369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3837786"/>
            <a:ext cx="9875520" cy="1369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78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 descr="A diagram of a root system&#10;&#10;AI-generated content may be incorrect.">
            <a:extLst>
              <a:ext uri="{FF2B5EF4-FFF2-40B4-BE49-F238E27FC236}">
                <a16:creationId xmlns:a16="http://schemas.microsoft.com/office/drawing/2014/main" id="{6F702CEF-A02C-9B33-7B5D-0417BD8E4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161" y="17087572"/>
            <a:ext cx="13607524" cy="8561671"/>
          </a:xfrm>
          <a:prstGeom prst="rect">
            <a:avLst/>
          </a:prstGeom>
        </p:spPr>
      </p:pic>
      <p:pic>
        <p:nvPicPr>
          <p:cNvPr id="125" name="Picture 124" descr="A green and grey rectangular boxes with white letters&#10;&#10;AI-generated content may be incorrect.">
            <a:extLst>
              <a:ext uri="{FF2B5EF4-FFF2-40B4-BE49-F238E27FC236}">
                <a16:creationId xmlns:a16="http://schemas.microsoft.com/office/drawing/2014/main" id="{ABFCA133-4DAD-2F2A-10AD-BF07DBE8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07" y="17033519"/>
            <a:ext cx="14833312" cy="4971695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640010" y="4465358"/>
            <a:ext cx="128710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91921" y="13974100"/>
            <a:ext cx="14056157" cy="230429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 sz="31400"/>
          </a:p>
        </p:txBody>
      </p:sp>
      <p:sp>
        <p:nvSpPr>
          <p:cNvPr id="12" name="Text 10"/>
          <p:cNvSpPr/>
          <p:nvPr/>
        </p:nvSpPr>
        <p:spPr>
          <a:xfrm>
            <a:off x="784449" y="14303285"/>
            <a:ext cx="128710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5189943" y="4465358"/>
            <a:ext cx="128710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0010" y="5584580"/>
            <a:ext cx="12871094" cy="177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RAG improves factual grounding by injecting retrieved documents into prompts — but this makes prompts long and makes prefill the main bottleneck for interactive use.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0010" y="7493851"/>
            <a:ext cx="1287109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vLLM APC works: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40010" y="7759852"/>
            <a:ext cx="1287109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Prefix Caching reuses previously computed KV blocks when a new request shares the same token prefix as a cached one.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93781" y="9664691"/>
            <a:ext cx="12871094" cy="2568431"/>
          </a:xfrm>
          <a:prstGeom prst="rect">
            <a:avLst/>
          </a:prstGeom>
          <a:solidFill>
            <a:srgbClr val="1A0808"/>
          </a:solidFill>
          <a:ln w="1905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 sz="31400"/>
          </a:p>
        </p:txBody>
      </p:sp>
      <p:sp>
        <p:nvSpPr>
          <p:cNvPr id="29" name="Text 27"/>
          <p:cNvSpPr/>
          <p:nvPr/>
        </p:nvSpPr>
        <p:spPr>
          <a:xfrm>
            <a:off x="822966" y="9796365"/>
            <a:ext cx="1221272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22966" y="10520569"/>
            <a:ext cx="12212726" cy="1382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documents as a set. APC requires ordered prefix agreement. Two requests retrieving the same documents in different orders get zero cache reuse.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93780" y="12429839"/>
            <a:ext cx="1332816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i="1" dirty="0">
                <a:solidFill>
                  <a:srgbClr val="6A9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 overlap is common in RAG, but prefix overlap is much rarer."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784448" y="15573644"/>
            <a:ext cx="1287109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Reorder retrieved documents so the prompt matches an existing cached prefix.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12766897" y="18684342"/>
            <a:ext cx="144841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600" dirty="0"/>
          </a:p>
        </p:txBody>
      </p:sp>
      <p:sp>
        <p:nvSpPr>
          <p:cNvPr id="83" name="Shape 81"/>
          <p:cNvSpPr/>
          <p:nvPr/>
        </p:nvSpPr>
        <p:spPr>
          <a:xfrm>
            <a:off x="15165824" y="8497862"/>
            <a:ext cx="888797" cy="888797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31400"/>
          </a:p>
        </p:txBody>
      </p:sp>
      <p:sp>
        <p:nvSpPr>
          <p:cNvPr id="84" name="Text 82"/>
          <p:cNvSpPr/>
          <p:nvPr/>
        </p:nvSpPr>
        <p:spPr>
          <a:xfrm>
            <a:off x="15165824" y="8497862"/>
            <a:ext cx="888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5" name="Text 83"/>
          <p:cNvSpPr/>
          <p:nvPr/>
        </p:nvSpPr>
        <p:spPr>
          <a:xfrm>
            <a:off x="16252130" y="8497862"/>
            <a:ext cx="1178478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Tree (Trie)</a:t>
            </a:r>
            <a:endParaRPr lang="en-US" sz="3600" dirty="0"/>
          </a:p>
        </p:txBody>
      </p:sp>
      <p:sp>
        <p:nvSpPr>
          <p:cNvPr id="86" name="Text 84"/>
          <p:cNvSpPr/>
          <p:nvPr/>
        </p:nvSpPr>
        <p:spPr>
          <a:xfrm>
            <a:off x="15165820" y="9485412"/>
            <a:ext cx="12871094" cy="164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Tracks recently served document orderings. Each root-to-leaf path = one cached sequence. Updated after every request — compact memory of recent prompt structure.</a:t>
            </a:r>
            <a:endParaRPr lang="en-US" sz="3200" dirty="0"/>
          </a:p>
        </p:txBody>
      </p:sp>
      <p:sp>
        <p:nvSpPr>
          <p:cNvPr id="87" name="Shape 85"/>
          <p:cNvSpPr/>
          <p:nvPr/>
        </p:nvSpPr>
        <p:spPr>
          <a:xfrm>
            <a:off x="15165824" y="11427600"/>
            <a:ext cx="888797" cy="888797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31400"/>
          </a:p>
        </p:txBody>
      </p:sp>
      <p:sp>
        <p:nvSpPr>
          <p:cNvPr id="88" name="Text 86"/>
          <p:cNvSpPr/>
          <p:nvPr/>
        </p:nvSpPr>
        <p:spPr>
          <a:xfrm>
            <a:off x="15165824" y="11427600"/>
            <a:ext cx="888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9" name="Text 87"/>
          <p:cNvSpPr/>
          <p:nvPr/>
        </p:nvSpPr>
        <p:spPr>
          <a:xfrm>
            <a:off x="16252130" y="11427600"/>
            <a:ext cx="1178478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Greedy Ordering Algorithm</a:t>
            </a:r>
            <a:endParaRPr lang="en-US" sz="3600" dirty="0"/>
          </a:p>
        </p:txBody>
      </p:sp>
      <p:sp>
        <p:nvSpPr>
          <p:cNvPr id="90" name="Text 88"/>
          <p:cNvSpPr/>
          <p:nvPr/>
        </p:nvSpPr>
        <p:spPr>
          <a:xfrm>
            <a:off x="15165820" y="12415151"/>
            <a:ext cx="12871094" cy="164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Walk trie root -&gt; pick the remaining document extending a cached path -&gt; repeat. When no cached match exists: fall back to retrieval rank order. Only ~22 us overhead per request.</a:t>
            </a:r>
            <a:endParaRPr lang="en-US" sz="3200" dirty="0"/>
          </a:p>
        </p:txBody>
      </p:sp>
      <p:sp>
        <p:nvSpPr>
          <p:cNvPr id="91" name="Shape 89"/>
          <p:cNvSpPr/>
          <p:nvPr/>
        </p:nvSpPr>
        <p:spPr>
          <a:xfrm>
            <a:off x="15165824" y="14357338"/>
            <a:ext cx="888797" cy="888797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31400"/>
          </a:p>
        </p:txBody>
      </p:sp>
      <p:sp>
        <p:nvSpPr>
          <p:cNvPr id="92" name="Text 90"/>
          <p:cNvSpPr/>
          <p:nvPr/>
        </p:nvSpPr>
        <p:spPr>
          <a:xfrm>
            <a:off x="15165824" y="14357338"/>
            <a:ext cx="888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93" name="Text 91"/>
          <p:cNvSpPr/>
          <p:nvPr/>
        </p:nvSpPr>
        <p:spPr>
          <a:xfrm>
            <a:off x="16252130" y="14357338"/>
            <a:ext cx="1178478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TTFT Feedback Loop</a:t>
            </a:r>
            <a:endParaRPr lang="en-US" sz="3600" dirty="0"/>
          </a:p>
        </p:txBody>
      </p:sp>
      <p:sp>
        <p:nvSpPr>
          <p:cNvPr id="94" name="Text 92"/>
          <p:cNvSpPr/>
          <p:nvPr/>
        </p:nvSpPr>
        <p:spPr>
          <a:xfrm>
            <a:off x="15165820" y="15511496"/>
            <a:ext cx="12871094" cy="164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Trie is only an approximation. If predicted reuse was high but TTFT stayed cold -&gt; mark path stale, prune it. Adapts online without instrumentation of vLLM internals.</a:t>
            </a:r>
            <a:endParaRPr lang="en-US" sz="3200" dirty="0"/>
          </a:p>
        </p:txBody>
      </p:sp>
      <p:pic>
        <p:nvPicPr>
          <p:cNvPr id="152" name="Picture 151" descr="A diagram of a tree&#10;&#10;AI-generated content may be incorrect.">
            <a:extLst>
              <a:ext uri="{FF2B5EF4-FFF2-40B4-BE49-F238E27FC236}">
                <a16:creationId xmlns:a16="http://schemas.microsoft.com/office/drawing/2014/main" id="{B6D0029E-7B6F-A2BF-E6EB-E9543937B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7005" y="5485826"/>
            <a:ext cx="14056158" cy="2503435"/>
          </a:xfrm>
          <a:prstGeom prst="rect">
            <a:avLst/>
          </a:prstGeom>
        </p:spPr>
      </p:pic>
      <p:sp>
        <p:nvSpPr>
          <p:cNvPr id="176" name="Text 13">
            <a:extLst>
              <a:ext uri="{FF2B5EF4-FFF2-40B4-BE49-F238E27FC236}">
                <a16:creationId xmlns:a16="http://schemas.microsoft.com/office/drawing/2014/main" id="{AE4C60B1-70D6-5B87-362B-1EC60831CD70}"/>
              </a:ext>
            </a:extLst>
          </p:cNvPr>
          <p:cNvSpPr/>
          <p:nvPr/>
        </p:nvSpPr>
        <p:spPr>
          <a:xfrm>
            <a:off x="29772794" y="4481817"/>
            <a:ext cx="128710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zh-CN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CN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>
              <a:solidFill>
                <a:schemeClr val="accent2"/>
              </a:solidFill>
            </a:endParaRP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E73084E5-1F07-16B6-318D-B0D9884B6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77602" y="5314087"/>
            <a:ext cx="14811143" cy="11444970"/>
          </a:xfrm>
          <a:prstGeom prst="rect">
            <a:avLst/>
          </a:prstGeom>
        </p:spPr>
      </p:pic>
      <p:pic>
        <p:nvPicPr>
          <p:cNvPr id="183" name="Picture 18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C0996AB2-AFA8-C449-629D-2EA0B33C8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23615" y="22715296"/>
            <a:ext cx="8284726" cy="2640890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D01B3C63-61C8-7451-FD19-A0C0E9572CF4}"/>
              </a:ext>
            </a:extLst>
          </p:cNvPr>
          <p:cNvSpPr txBox="1"/>
          <p:nvPr/>
        </p:nvSpPr>
        <p:spPr>
          <a:xfrm>
            <a:off x="154764" y="22801041"/>
            <a:ext cx="649433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MEDIAN TTFT REDUCTION</a:t>
            </a:r>
          </a:p>
          <a:p>
            <a:pPr algn="ctr"/>
            <a:r>
              <a:rPr sz="3600" b="1" dirty="0"/>
              <a:t>20–33%</a:t>
            </a:r>
            <a:endParaRPr lang="en-US" sz="3600" b="1" dirty="0"/>
          </a:p>
          <a:p>
            <a:pPr algn="ctr"/>
            <a:endParaRPr sz="4000" b="1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B8878E1-36B4-322F-46EC-2F4E2748B09E}"/>
              </a:ext>
            </a:extLst>
          </p:cNvPr>
          <p:cNvSpPr txBox="1"/>
          <p:nvPr/>
        </p:nvSpPr>
        <p:spPr>
          <a:xfrm>
            <a:off x="7248830" y="22792013"/>
            <a:ext cx="7853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C0000"/>
                </a:solidFill>
              </a:rPr>
              <a:t>✓ </a:t>
            </a:r>
            <a:r>
              <a:rPr sz="3600" dirty="0"/>
              <a:t>NO ANSWER QUALITY LOSS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B4B95E2-9715-D227-F3A5-303367BB69FF}"/>
              </a:ext>
            </a:extLst>
          </p:cNvPr>
          <p:cNvSpPr txBox="1"/>
          <p:nvPr/>
        </p:nvSpPr>
        <p:spPr>
          <a:xfrm>
            <a:off x="7602480" y="23351626"/>
            <a:ext cx="7072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/>
              <a:t>    </a:t>
            </a:r>
            <a:r>
              <a:rPr lang="en-US" altLang="zh-CN" sz="3600" b="1" dirty="0"/>
              <a:t>0</a:t>
            </a:r>
            <a:r>
              <a:rPr lang="zh-CN" altLang="en-US" sz="3600" dirty="0"/>
              <a:t> </a:t>
            </a:r>
            <a:r>
              <a:rPr sz="3600" dirty="0"/>
              <a:t>ENGINE MODIFICATIONS</a:t>
            </a:r>
          </a:p>
        </p:txBody>
      </p:sp>
      <p:pic>
        <p:nvPicPr>
          <p:cNvPr id="200" name="Picture 199" descr="A graph with green line and white text&#10;&#10;AI-generated content may be incorrect.">
            <a:extLst>
              <a:ext uri="{FF2B5EF4-FFF2-40B4-BE49-F238E27FC236}">
                <a16:creationId xmlns:a16="http://schemas.microsoft.com/office/drawing/2014/main" id="{3D95AE74-1F30-1776-59F6-C892CA2947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8768" y="16978348"/>
            <a:ext cx="7866305" cy="5634574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E5511D36-1866-DB79-8556-ED6B8A387B1E}"/>
              </a:ext>
            </a:extLst>
          </p:cNvPr>
          <p:cNvSpPr txBox="1"/>
          <p:nvPr/>
        </p:nvSpPr>
        <p:spPr>
          <a:xfrm>
            <a:off x="36284284" y="17291861"/>
            <a:ext cx="7156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49" indent="-617249">
              <a:buFont typeface="Arial" panose="020B0604020202020204" pitchFamily="34" charset="0"/>
              <a:buChar char="•"/>
            </a:pPr>
            <a:r>
              <a:rPr lang="en-US" sz="3600" b="1" dirty="0"/>
              <a:t>RAGCache++ </a:t>
            </a:r>
            <a:r>
              <a:rPr lang="en-US" sz="3600" dirty="0"/>
              <a:t>is not a universal speedup</a:t>
            </a:r>
            <a:r>
              <a:rPr lang="zh-CN" altLang="en-US" sz="3600" dirty="0"/>
              <a:t> </a:t>
            </a:r>
            <a:r>
              <a:rPr lang="en-US" sz="3600" dirty="0"/>
              <a:t>for all workloads. It is most effective when requests are</a:t>
            </a:r>
            <a:r>
              <a:rPr lang="zh-CN" altLang="en-US" sz="3600" dirty="0"/>
              <a:t> </a:t>
            </a:r>
            <a:r>
              <a:rPr lang="en-US" sz="3600" dirty="0"/>
              <a:t>related enough to share evidence</a:t>
            </a:r>
            <a:r>
              <a:rPr lang="en-US" altLang="zh-CN" sz="3600" dirty="0"/>
              <a:t>.</a:t>
            </a:r>
            <a:endParaRPr lang="en-US" sz="3600" dirty="0"/>
          </a:p>
          <a:p>
            <a:endParaRPr lang="en-US" sz="36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1058D6EE-803B-E48D-682F-C3EDF244B44C}"/>
              </a:ext>
            </a:extLst>
          </p:cNvPr>
          <p:cNvSpPr/>
          <p:nvPr/>
        </p:nvSpPr>
        <p:spPr>
          <a:xfrm>
            <a:off x="0" y="515145"/>
            <a:ext cx="43891200" cy="312724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 sz="26131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65B6404-7EC0-997E-1D97-F3A12E4997D1}"/>
              </a:ext>
            </a:extLst>
          </p:cNvPr>
          <p:cNvSpPr/>
          <p:nvPr/>
        </p:nvSpPr>
        <p:spPr>
          <a:xfrm>
            <a:off x="724205" y="712654"/>
            <a:ext cx="33576768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RAGCache++: Cache-Aware Document Ordering for Low-Latency RAG Serving</a:t>
            </a:r>
            <a:endParaRPr lang="en-US" sz="684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04C3AC2-ADB9-E787-60C7-3646F6DF828A}"/>
              </a:ext>
            </a:extLst>
          </p:cNvPr>
          <p:cNvSpPr/>
          <p:nvPr/>
        </p:nvSpPr>
        <p:spPr>
          <a:xfrm>
            <a:off x="724205" y="2259822"/>
            <a:ext cx="2304288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79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Kaizhen Tan   ·   Rong Gu   ·   Mingyuan Li</a:t>
            </a:r>
            <a:endParaRPr lang="en-US" sz="3779" dirty="0">
              <a:solidFill>
                <a:schemeClr val="bg2"/>
              </a:solidFill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707E5B1-CFE3-7C23-BA8D-5867324BF82E}"/>
              </a:ext>
            </a:extLst>
          </p:cNvPr>
          <p:cNvSpPr/>
          <p:nvPr/>
        </p:nvSpPr>
        <p:spPr>
          <a:xfrm>
            <a:off x="724205" y="2951109"/>
            <a:ext cx="329184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60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Heinz College, Carnegie Mellon University  |  11868 Large Language Model Systems, Spring 2026</a:t>
            </a:r>
            <a:endParaRPr lang="en-US" sz="306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1E38D889-51F2-5C35-ACAA-B4F327CF9E9B}"/>
              </a:ext>
            </a:extLst>
          </p:cNvPr>
          <p:cNvSpPr/>
          <p:nvPr/>
        </p:nvSpPr>
        <p:spPr>
          <a:xfrm>
            <a:off x="493780" y="3971579"/>
            <a:ext cx="14056157" cy="230429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 sz="26131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3296FC12-D92C-1634-8234-6F0643FC7281}"/>
              </a:ext>
            </a:extLst>
          </p:cNvPr>
          <p:cNvSpPr/>
          <p:nvPr/>
        </p:nvSpPr>
        <p:spPr>
          <a:xfrm>
            <a:off x="15043712" y="3971579"/>
            <a:ext cx="14056157" cy="230429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26131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C2D72288-EA7B-2793-86B4-B3E7726B6370}"/>
              </a:ext>
            </a:extLst>
          </p:cNvPr>
          <p:cNvSpPr/>
          <p:nvPr/>
        </p:nvSpPr>
        <p:spPr>
          <a:xfrm>
            <a:off x="29593645" y="3971579"/>
            <a:ext cx="14056157" cy="23042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sz="26131" dirty="0"/>
          </a:p>
        </p:txBody>
      </p:sp>
      <p:pic>
        <p:nvPicPr>
          <p:cNvPr id="33" name="Picture 2" descr="Carnegie Mellon University Logo and symbol, meaning, history, PNG, brand">
            <a:extLst>
              <a:ext uri="{FF2B5EF4-FFF2-40B4-BE49-F238E27FC236}">
                <a16:creationId xmlns:a16="http://schemas.microsoft.com/office/drawing/2014/main" id="{B1451DD0-FA62-F107-BCF1-81FBBAEA8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4243" y="600215"/>
            <a:ext cx="5126957" cy="288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200">
            <a:extLst>
              <a:ext uri="{FF2B5EF4-FFF2-40B4-BE49-F238E27FC236}">
                <a16:creationId xmlns:a16="http://schemas.microsoft.com/office/drawing/2014/main" id="{D895F168-5BA3-363C-F8D6-3A547B613084}"/>
              </a:ext>
            </a:extLst>
          </p:cNvPr>
          <p:cNvSpPr txBox="1"/>
          <p:nvPr/>
        </p:nvSpPr>
        <p:spPr>
          <a:xfrm>
            <a:off x="36284990" y="20031303"/>
            <a:ext cx="75037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49" indent="-617249">
              <a:buFont typeface="Arial" panose="020B0604020202020204" pitchFamily="34" charset="0"/>
              <a:buChar char="•"/>
            </a:pPr>
            <a:r>
              <a:rPr lang="en-US" sz="3600" dirty="0"/>
              <a:t>Answer quality remains unchanged in our QA tests, suggesting that reordering improves latency without disrupting evidence use.</a:t>
            </a:r>
          </a:p>
        </p:txBody>
      </p:sp>
      <p:sp>
        <p:nvSpPr>
          <p:cNvPr id="37" name="TextBox 200">
            <a:extLst>
              <a:ext uri="{FF2B5EF4-FFF2-40B4-BE49-F238E27FC236}">
                <a16:creationId xmlns:a16="http://schemas.microsoft.com/office/drawing/2014/main" id="{C8F035FE-4BBD-713C-AFBD-90140979C32A}"/>
              </a:ext>
            </a:extLst>
          </p:cNvPr>
          <p:cNvSpPr txBox="1"/>
          <p:nvPr/>
        </p:nvSpPr>
        <p:spPr>
          <a:xfrm>
            <a:off x="36284990" y="22648106"/>
            <a:ext cx="6937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7249" indent="-617249">
              <a:buFont typeface="Arial" panose="020B0604020202020204" pitchFamily="34" charset="0"/>
              <a:buChar char="•"/>
            </a:pPr>
            <a:r>
              <a:rPr lang="en-US" altLang="zh-CN" sz="3600" dirty="0"/>
              <a:t>The method adds negligible CPU overhead, preserves baseline APC throughput, and remains beneficial under concurrent and end-to-end settings.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</TotalTime>
  <Words>336</Words>
  <Application>Microsoft Office PowerPoint</Application>
  <PresentationFormat>自定义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Kz Tan</cp:lastModifiedBy>
  <cp:revision>10</cp:revision>
  <dcterms:created xsi:type="dcterms:W3CDTF">2026-04-23T15:08:58Z</dcterms:created>
  <dcterms:modified xsi:type="dcterms:W3CDTF">2026-04-23T18:33:10Z</dcterms:modified>
</cp:coreProperties>
</file>