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2918400" cy="3840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5" d="100"/>
          <a:sy n="25" d="100"/>
        </p:scale>
        <p:origin x="1668" y="-5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3464" y="-109924"/>
            <a:ext cx="32918400" cy="384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0" cy="54864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32918400" cy="109728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2004000" cy="2514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800" b="1" i="0">
                <a:solidFill>
                  <a:srgbClr val="0C2340"/>
                </a:solidFill>
                <a:latin typeface="Segoe UI"/>
              </a:rPr>
              <a:t>RAGCache++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32004000" cy="10515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0" i="0" dirty="0">
                <a:solidFill>
                  <a:srgbClr val="1F3A5F"/>
                </a:solidFill>
                <a:latin typeface="Segoe UI"/>
              </a:rPr>
              <a:t>Cache-Aware Document Ordering for Low-Latency RAG Serving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32004000" cy="6858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41418"/>
                </a:solidFill>
                <a:latin typeface="Segoe UI"/>
              </a:rPr>
              <a:t>Kaizhen Tan    ·    Rong Gu    ·    Mingyuan Li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468112"/>
            <a:ext cx="32004000" cy="0"/>
          </a:xfrm>
          <a:prstGeom prst="line">
            <a:avLst/>
          </a:prstGeom>
          <a:ln w="15240">
            <a:solidFill>
              <a:srgbClr val="0C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5623560"/>
            <a:ext cx="6217920" cy="18288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651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733288"/>
            <a:ext cx="6217920" cy="10972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 i="0">
                <a:solidFill>
                  <a:srgbClr val="0C2340"/>
                </a:solidFill>
                <a:latin typeface="Segoe UI"/>
              </a:rPr>
              <a:t>20–33%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830568"/>
            <a:ext cx="621792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555560"/>
                </a:solidFill>
                <a:latin typeface="Segoe UI"/>
              </a:rPr>
              <a:t>TTFT reduction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5623560"/>
            <a:ext cx="6217920" cy="18288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651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5733288"/>
            <a:ext cx="6217920" cy="10972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 i="0">
                <a:solidFill>
                  <a:srgbClr val="0C2340"/>
                </a:solidFill>
                <a:latin typeface="Segoe UI"/>
              </a:rPr>
              <a:t>66%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6830568"/>
            <a:ext cx="621792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555560"/>
                </a:solidFill>
                <a:latin typeface="Segoe UI"/>
              </a:rPr>
              <a:t>prefill saved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350240" y="5623560"/>
            <a:ext cx="6217920" cy="18288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651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350240" y="5733288"/>
            <a:ext cx="6217920" cy="10972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 i="0">
                <a:solidFill>
                  <a:srgbClr val="0C2340"/>
                </a:solidFill>
                <a:latin typeface="Segoe UI"/>
              </a:rPr>
              <a:t>97.5%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0" y="6830568"/>
            <a:ext cx="621792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555560"/>
                </a:solidFill>
                <a:latin typeface="Segoe UI"/>
              </a:rPr>
              <a:t>of oracle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796760" y="5623560"/>
            <a:ext cx="6217920" cy="18288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651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796760" y="5733288"/>
            <a:ext cx="6217920" cy="10972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 i="0">
                <a:solidFill>
                  <a:srgbClr val="0C2340"/>
                </a:solidFill>
                <a:latin typeface="Segoe UI"/>
              </a:rPr>
              <a:t>&lt;0.13%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96760" y="6830568"/>
            <a:ext cx="621792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555560"/>
                </a:solidFill>
                <a:latin typeface="Segoe UI"/>
              </a:rPr>
              <a:t>overhead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243280" y="5623560"/>
            <a:ext cx="6217920" cy="18288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651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243280" y="5733288"/>
            <a:ext cx="6217920" cy="10972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 i="0">
                <a:solidFill>
                  <a:srgbClr val="0C2340"/>
                </a:solidFill>
                <a:latin typeface="Segoe UI"/>
              </a:rPr>
              <a:t>~150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0" y="6830568"/>
            <a:ext cx="621792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555560"/>
                </a:solidFill>
                <a:latin typeface="Segoe UI"/>
              </a:rPr>
              <a:t>lines of Python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7635240"/>
            <a:ext cx="32004000" cy="0"/>
          </a:xfrm>
          <a:prstGeom prst="line">
            <a:avLst/>
          </a:prstGeom>
          <a:ln w="50800">
            <a:solidFill>
              <a:srgbClr val="0C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7200" y="7909560"/>
            <a:ext cx="1417320" cy="141732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7936992"/>
            <a:ext cx="1417320" cy="1362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7909560"/>
            <a:ext cx="13807440" cy="1417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0C2340"/>
                </a:solidFill>
                <a:latin typeface="Segoe UI"/>
              </a:rPr>
              <a:t>The Problem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" y="9491472"/>
            <a:ext cx="15544800" cy="0"/>
          </a:xfrm>
          <a:prstGeom prst="line">
            <a:avLst/>
          </a:prstGeom>
          <a:ln w="50800">
            <a:solidFill>
              <a:srgbClr val="0C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9692640"/>
            <a:ext cx="15544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41418"/>
                </a:solidFill>
                <a:latin typeface="Segoe UI"/>
              </a:rPr>
              <a:t>RAG boosts accuracy but bloats prompts.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10378440"/>
            <a:ext cx="15453359" cy="23317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 i="0">
                <a:solidFill>
                  <a:srgbClr val="0C2340"/>
                </a:solidFill>
                <a:latin typeface="Segoe UI"/>
              </a:rPr>
              <a:t>▪  </a:t>
            </a:r>
            <a:r>
              <a:rPr sz="2600" b="0" i="0">
                <a:solidFill>
                  <a:srgbClr val="141418"/>
                </a:solidFill>
                <a:latin typeface="Segoe UI"/>
              </a:rPr>
              <a:t>Retrieved docs make prompts 2–10× longer</a:t>
            </a:r>
          </a:p>
          <a:p>
            <a:pPr algn="l">
              <a:lnSpc>
                <a:spcPct val="140000"/>
              </a:lnSpc>
            </a:pPr>
            <a:r>
              <a:rPr sz="2600" b="1" i="0">
                <a:solidFill>
                  <a:srgbClr val="0C2340"/>
                </a:solidFill>
                <a:latin typeface="Segoe UI"/>
              </a:rPr>
              <a:t>▪  </a:t>
            </a:r>
            <a:r>
              <a:rPr sz="2600" b="0" i="0">
                <a:solidFill>
                  <a:srgbClr val="141418"/>
                </a:solidFill>
                <a:latin typeface="Segoe UI"/>
              </a:rPr>
              <a:t>Prefill scales O(n·d) — dominates TTFT</a:t>
            </a:r>
          </a:p>
          <a:p>
            <a:pPr algn="l">
              <a:lnSpc>
                <a:spcPct val="140000"/>
              </a:lnSpc>
            </a:pPr>
            <a:r>
              <a:rPr sz="2600" b="1" i="0">
                <a:solidFill>
                  <a:srgbClr val="0C2340"/>
                </a:solidFill>
                <a:latin typeface="Segoe UI"/>
              </a:rPr>
              <a:t>▪  </a:t>
            </a:r>
            <a:r>
              <a:rPr sz="2600" b="0" i="0">
                <a:solidFill>
                  <a:srgbClr val="141418"/>
                </a:solidFill>
                <a:latin typeface="Segoe UI"/>
              </a:rPr>
              <a:t>TTFT is the latency users actually feel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12710159"/>
            <a:ext cx="15544800" cy="4023360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 w="25400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12938759"/>
            <a:ext cx="1490472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41230"/>
                </a:solidFill>
                <a:latin typeface="Consolas"/>
              </a:rPr>
              <a:t>KEY INSIGHT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13670280"/>
            <a:ext cx="14904720" cy="1005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C2340"/>
                </a:solidFill>
                <a:latin typeface="Segoe UI"/>
              </a:rPr>
              <a:t>Retrieval is document-level.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14676119"/>
            <a:ext cx="14904720" cy="1005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C2340"/>
                </a:solidFill>
                <a:latin typeface="Segoe UI"/>
              </a:rPr>
              <a:t>Prefix caching is token-level.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15773400"/>
            <a:ext cx="1490472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141418"/>
                </a:solidFill>
                <a:latin typeface="Segoe UI"/>
              </a:rPr>
              <a:t>Different ordering  =  different prefix  =  zero reuse.</a:t>
            </a:r>
          </a:p>
        </p:txBody>
      </p:sp>
      <p:pic>
        <p:nvPicPr>
          <p:cNvPr id="36" name="Picture 35" descr="prefix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46" y="17016984"/>
            <a:ext cx="16294554" cy="447161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57200" y="21671280"/>
            <a:ext cx="1417320" cy="141732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21698712"/>
            <a:ext cx="1417320" cy="1362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21671280"/>
            <a:ext cx="13807440" cy="1417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0C2340"/>
                </a:solidFill>
                <a:latin typeface="Segoe UI"/>
              </a:rPr>
              <a:t>RAGCache++ Method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7200" y="23253192"/>
            <a:ext cx="15544800" cy="0"/>
          </a:xfrm>
          <a:prstGeom prst="line">
            <a:avLst/>
          </a:prstGeom>
          <a:ln w="50800">
            <a:solidFill>
              <a:srgbClr val="0C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7200" y="23454360"/>
            <a:ext cx="1554480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0" i="0">
                <a:solidFill>
                  <a:srgbClr val="141418"/>
                </a:solidFill>
                <a:latin typeface="Segoe UI"/>
              </a:rPr>
              <a:t>A prompt-layer scheduler that reorders retrieved documents to align with cached prefixes — zero engine modifications.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24460200"/>
            <a:ext cx="5029200" cy="356616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651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9808" y="24661368"/>
            <a:ext cx="4443984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C41230"/>
                </a:solidFill>
                <a:latin typeface="Consolas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25374600"/>
            <a:ext cx="4443984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C2340"/>
                </a:solidFill>
                <a:latin typeface="Segoe UI"/>
              </a:rPr>
              <a:t>Knowledge Tree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26243280"/>
            <a:ext cx="4443984" cy="1645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141418"/>
                </a:solidFill>
                <a:latin typeface="Segoe UI"/>
              </a:rPr>
              <a:t>Trie indexed by</a:t>
            </a:r>
          </a:p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141418"/>
                </a:solidFill>
                <a:latin typeface="Segoe UI"/>
              </a:rPr>
              <a:t>doc-ID sequences;</a:t>
            </a:r>
          </a:p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141418"/>
                </a:solidFill>
                <a:latin typeface="Segoe UI"/>
              </a:rPr>
              <a:t>tracks cached</a:t>
            </a:r>
          </a:p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141418"/>
                </a:solidFill>
                <a:latin typeface="Segoe UI"/>
              </a:rPr>
              <a:t>orderings.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15000" y="24460200"/>
            <a:ext cx="5029200" cy="356616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651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07608" y="24661368"/>
            <a:ext cx="4443984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C41230"/>
                </a:solidFill>
                <a:latin typeface="Consolas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07608" y="25374600"/>
            <a:ext cx="4443984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C2340"/>
                </a:solidFill>
                <a:latin typeface="Segoe UI"/>
              </a:rPr>
              <a:t>Greedy O(k) Walk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07608" y="26243280"/>
            <a:ext cx="4443984" cy="1645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141418"/>
                </a:solidFill>
                <a:latin typeface="Segoe UI"/>
              </a:rPr>
              <a:t>Find the longest</a:t>
            </a:r>
          </a:p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141418"/>
                </a:solidFill>
                <a:latin typeface="Segoe UI"/>
              </a:rPr>
              <a:t>cached prefix for</a:t>
            </a:r>
          </a:p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141418"/>
                </a:solidFill>
                <a:latin typeface="Segoe UI"/>
              </a:rPr>
              <a:t>each incoming</a:t>
            </a:r>
          </a:p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141418"/>
                </a:solidFill>
                <a:latin typeface="Segoe UI"/>
              </a:rPr>
              <a:t>request.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72800" y="24460200"/>
            <a:ext cx="5029200" cy="356616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651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1265408" y="24661368"/>
            <a:ext cx="4443984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C41230"/>
                </a:solidFill>
                <a:latin typeface="Consola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65408" y="25374600"/>
            <a:ext cx="4443984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C2340"/>
                </a:solidFill>
                <a:latin typeface="Segoe UI"/>
              </a:rPr>
              <a:t>Zero Mods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65408" y="26243280"/>
            <a:ext cx="4443984" cy="1645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141418"/>
                </a:solidFill>
                <a:latin typeface="Segoe UI"/>
              </a:rPr>
              <a:t>~150 lines at the</a:t>
            </a:r>
          </a:p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141418"/>
                </a:solidFill>
                <a:latin typeface="Segoe UI"/>
              </a:rPr>
              <a:t>prompt layer. No</a:t>
            </a:r>
          </a:p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141418"/>
                </a:solidFill>
                <a:latin typeface="Segoe UI"/>
              </a:rPr>
              <a:t>vLLM engine</a:t>
            </a:r>
          </a:p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141418"/>
                </a:solidFill>
                <a:latin typeface="Segoe UI"/>
              </a:rPr>
              <a:t>patches.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28346400"/>
            <a:ext cx="7612379" cy="59436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651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9808" y="28529280"/>
            <a:ext cx="7027164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C2340"/>
                </a:solidFill>
                <a:latin typeface="Segoe UI"/>
              </a:rPr>
              <a:t>Greedy Ordering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8" y="29242512"/>
            <a:ext cx="7063740" cy="4892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300" b="0" i="0">
                <a:solidFill>
                  <a:srgbClr val="141418"/>
                </a:solidFill>
                <a:latin typeface="Consolas"/>
              </a:rPr>
              <a:t>O ← [ ],  R ← D,  node ← T.root</a:t>
            </a:r>
          </a:p>
          <a:p>
            <a:pPr algn="l">
              <a:lnSpc>
                <a:spcPct val="132000"/>
              </a:lnSpc>
            </a:pPr>
            <a:r>
              <a:rPr sz="2300" b="0" i="0">
                <a:solidFill>
                  <a:srgbClr val="141418"/>
                </a:solidFill>
                <a:latin typeface="Consolas"/>
              </a:rPr>
              <a:t>while R ≠ ∅:</a:t>
            </a:r>
          </a:p>
          <a:p>
            <a:pPr algn="l">
              <a:lnSpc>
                <a:spcPct val="132000"/>
              </a:lnSpc>
            </a:pPr>
            <a:r>
              <a:rPr sz="2300" b="0" i="0">
                <a:solidFill>
                  <a:srgbClr val="141418"/>
                </a:solidFill>
                <a:latin typeface="Consolas"/>
              </a:rPr>
              <a:t>    for each d in R:</a:t>
            </a:r>
          </a:p>
          <a:p>
            <a:pPr algn="l">
              <a:lnSpc>
                <a:spcPct val="132000"/>
              </a:lnSpc>
            </a:pPr>
            <a:r>
              <a:rPr sz="2300" b="0" i="0">
                <a:solidFill>
                  <a:srgbClr val="141418"/>
                </a:solidFill>
                <a:latin typeface="Consolas"/>
              </a:rPr>
              <a:t>        if node.child(d) cached:</a:t>
            </a:r>
          </a:p>
          <a:p>
            <a:pPr algn="l">
              <a:lnSpc>
                <a:spcPct val="132000"/>
              </a:lnSpc>
            </a:pPr>
            <a:r>
              <a:rPr sz="2300" b="0" i="0">
                <a:solidFill>
                  <a:srgbClr val="141418"/>
                </a:solidFill>
                <a:latin typeface="Consolas"/>
              </a:rPr>
              <a:t>            append d to O</a:t>
            </a:r>
          </a:p>
          <a:p>
            <a:pPr algn="l">
              <a:lnSpc>
                <a:spcPct val="132000"/>
              </a:lnSpc>
            </a:pPr>
            <a:r>
              <a:rPr sz="2300" b="0" i="0">
                <a:solidFill>
                  <a:srgbClr val="141418"/>
                </a:solidFill>
                <a:latin typeface="Consolas"/>
              </a:rPr>
              <a:t>            node ← child; break</a:t>
            </a:r>
          </a:p>
          <a:p>
            <a:pPr algn="l">
              <a:lnSpc>
                <a:spcPct val="132000"/>
              </a:lnSpc>
            </a:pPr>
            <a:r>
              <a:rPr sz="2300" b="0" i="0">
                <a:solidFill>
                  <a:srgbClr val="141418"/>
                </a:solidFill>
                <a:latin typeface="Consolas"/>
              </a:rPr>
              <a:t>    if no match:</a:t>
            </a:r>
          </a:p>
          <a:p>
            <a:pPr algn="l">
              <a:lnSpc>
                <a:spcPct val="132000"/>
              </a:lnSpc>
            </a:pPr>
            <a:r>
              <a:rPr sz="2300" b="0" i="0">
                <a:solidFill>
                  <a:srgbClr val="141418"/>
                </a:solidFill>
                <a:latin typeface="Consolas"/>
              </a:rPr>
              <a:t>        append R in rank</a:t>
            </a:r>
          </a:p>
          <a:p>
            <a:pPr algn="l">
              <a:lnSpc>
                <a:spcPct val="132000"/>
              </a:lnSpc>
            </a:pPr>
            <a:r>
              <a:rPr sz="2300" b="0" i="0">
                <a:solidFill>
                  <a:srgbClr val="141418"/>
                </a:solidFill>
                <a:latin typeface="Consolas"/>
              </a:rPr>
              <a:t>        break</a:t>
            </a:r>
          </a:p>
          <a:p>
            <a:pPr algn="l">
              <a:lnSpc>
                <a:spcPct val="132000"/>
              </a:lnSpc>
            </a:pPr>
            <a:r>
              <a:rPr sz="2300" b="0" i="0">
                <a:solidFill>
                  <a:srgbClr val="141418"/>
                </a:solidFill>
                <a:latin typeface="Consolas"/>
              </a:rPr>
              <a:t>return 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89619" y="28346400"/>
            <a:ext cx="7612379" cy="59436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651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682228" y="28529280"/>
            <a:ext cx="7027164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C2340"/>
                </a:solidFill>
                <a:latin typeface="Segoe UI"/>
              </a:rPr>
              <a:t>Knowledge Tree walk</a:t>
            </a:r>
          </a:p>
        </p:txBody>
      </p:sp>
      <p:pic>
        <p:nvPicPr>
          <p:cNvPr id="59" name="Picture 58" descr="trie_diagram.png"/>
          <p:cNvPicPr>
            <a:picLocks noChangeAspect="1"/>
          </p:cNvPicPr>
          <p:nvPr/>
        </p:nvPicPr>
        <p:blipFill>
          <a:blip r:embed="rId3"/>
          <a:srcRect l="7688" r="5993"/>
          <a:stretch>
            <a:fillRect/>
          </a:stretch>
        </p:blipFill>
        <p:spPr>
          <a:xfrm>
            <a:off x="8516362" y="29663178"/>
            <a:ext cx="7193030" cy="4123902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457200" y="34564320"/>
            <a:ext cx="5059680" cy="196596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524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7200" y="34728912"/>
            <a:ext cx="5059680" cy="10972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0C2340"/>
                </a:solidFill>
                <a:latin typeface="Segoe UI"/>
              </a:rPr>
              <a:t>O(k)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35798760"/>
            <a:ext cx="5059680" cy="6858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555560"/>
                </a:solidFill>
                <a:latin typeface="Segoe UI"/>
              </a:rPr>
              <a:t>per-request cost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99760" y="34564320"/>
            <a:ext cx="5059680" cy="196596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524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699760" y="34728912"/>
            <a:ext cx="5059680" cy="10972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0C2340"/>
                </a:solidFill>
                <a:latin typeface="Segoe UI"/>
              </a:rPr>
              <a:t>97.5%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99760" y="35798760"/>
            <a:ext cx="5059680" cy="6858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555560"/>
                </a:solidFill>
                <a:latin typeface="Segoe UI"/>
              </a:rPr>
              <a:t>of oracle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942320" y="34564320"/>
            <a:ext cx="5059680" cy="196596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524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942320" y="34728912"/>
            <a:ext cx="5059680" cy="10972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0C2340"/>
                </a:solidFill>
                <a:latin typeface="Segoe UI"/>
              </a:rPr>
              <a:t>0.997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42320" y="35798760"/>
            <a:ext cx="5059680" cy="6858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555560"/>
                </a:solidFill>
                <a:latin typeface="Segoe UI"/>
              </a:rPr>
              <a:t>mean optimality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6916400" y="7909560"/>
            <a:ext cx="1417320" cy="141732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6916400" y="7936992"/>
            <a:ext cx="1417320" cy="1362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653760" y="7909560"/>
            <a:ext cx="13807440" cy="1417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0C2340"/>
                </a:solidFill>
                <a:latin typeface="Segoe UI"/>
              </a:rPr>
              <a:t>Main Results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6916400" y="9491472"/>
            <a:ext cx="15544800" cy="0"/>
          </a:xfrm>
          <a:prstGeom prst="line">
            <a:avLst/>
          </a:prstGeom>
          <a:ln w="50800">
            <a:solidFill>
              <a:srgbClr val="0C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" name="Picture 72" descr="ttft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0" y="9692640"/>
            <a:ext cx="15544800" cy="5486400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16916400" y="15316200"/>
            <a:ext cx="15544800" cy="233172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651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7209008" y="15453359"/>
            <a:ext cx="1495044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0C2340"/>
                </a:solidFill>
                <a:latin typeface="Segoe UI"/>
              </a:rPr>
              <a:t>Key takeaway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209008" y="16047720"/>
            <a:ext cx="14950440" cy="1554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0C2340"/>
                </a:solidFill>
                <a:latin typeface="Segoe UI"/>
              </a:rPr>
              <a:t>▪  </a:t>
            </a:r>
            <a:r>
              <a:rPr sz="2200" b="0" i="0">
                <a:solidFill>
                  <a:srgbClr val="141418"/>
                </a:solidFill>
                <a:latin typeface="Segoe UI"/>
              </a:rPr>
              <a:t>20–33% median TTFT reduction, 2 GPU configs</a:t>
            </a:r>
          </a:p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0C2340"/>
                </a:solidFill>
                <a:latin typeface="Segoe UI"/>
              </a:rPr>
              <a:t>▪  </a:t>
            </a:r>
            <a:r>
              <a:rPr sz="2200" b="0" i="0">
                <a:solidFill>
                  <a:srgbClr val="141418"/>
                </a:solidFill>
                <a:latin typeface="Segoe UI"/>
              </a:rPr>
              <a:t>16.8 ± 1.6 ms, 95% CI excludes zero (n=3 seeds)</a:t>
            </a:r>
          </a:p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0C2340"/>
                </a:solidFill>
                <a:latin typeface="Segoe UI"/>
              </a:rPr>
              <a:t>▪  </a:t>
            </a:r>
            <a:r>
              <a:rPr sz="2200" b="0" i="0">
                <a:solidFill>
                  <a:srgbClr val="141418"/>
                </a:solidFill>
                <a:latin typeface="Segoe UI"/>
              </a:rPr>
              <a:t>66% of prefill computation saved at p50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6925036" y="18022824"/>
            <a:ext cx="1417320" cy="1417320"/>
          </a:xfrm>
          <a:prstGeom prst="roundRect">
            <a:avLst>
              <a:gd name="adj" fmla="val 10000"/>
            </a:avLst>
          </a:prstGeom>
          <a:solidFill>
            <a:srgbClr val="B4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6925036" y="18050256"/>
            <a:ext cx="1417320" cy="1362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662396" y="18022824"/>
            <a:ext cx="13807440" cy="1417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B47200"/>
                </a:solidFill>
                <a:latin typeface="Segoe UI"/>
              </a:rPr>
              <a:t>Prefix  DEPTH  &gt;  Hit  COUNT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6925036" y="19604736"/>
            <a:ext cx="15544800" cy="0"/>
          </a:xfrm>
          <a:prstGeom prst="line">
            <a:avLst/>
          </a:prstGeom>
          <a:ln w="50800">
            <a:solidFill>
              <a:srgbClr val="B47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16925036" y="19805904"/>
            <a:ext cx="15544800" cy="1417320"/>
          </a:xfrm>
          <a:prstGeom prst="roundRect">
            <a:avLst>
              <a:gd name="adj" fmla="val 6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6925036" y="19897344"/>
            <a:ext cx="15544800" cy="12344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Higher hit rate does NOT mean lower TTFT.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6925036" y="21360384"/>
            <a:ext cx="7635240" cy="27432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254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7153636" y="21497543"/>
            <a:ext cx="71780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F77B4"/>
                </a:solidFill>
                <a:latin typeface="Segoe UI"/>
              </a:rPr>
              <a:t>APC+Sorted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7153636" y="21982176"/>
            <a:ext cx="717804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1F77B4"/>
                </a:solidFill>
                <a:latin typeface="Segoe UI"/>
              </a:rPr>
              <a:t>25.6%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153636" y="22896576"/>
            <a:ext cx="717804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555560"/>
                </a:solidFill>
                <a:latin typeface="Segoe UI"/>
              </a:rPr>
              <a:t>hit rate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153636" y="23326343"/>
            <a:ext cx="717804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141418"/>
                </a:solidFill>
                <a:latin typeface="Segoe UI"/>
              </a:rPr>
              <a:t>but  81.2 ms  TTFT</a:t>
            </a:r>
          </a:p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141418"/>
                </a:solidFill>
                <a:latin typeface="Segoe UI"/>
              </a:rPr>
              <a:t>many short fragments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4834596" y="21360384"/>
            <a:ext cx="7635240" cy="2743200"/>
          </a:xfrm>
          <a:prstGeom prst="roundRect">
            <a:avLst>
              <a:gd name="adj" fmla="val 5000"/>
            </a:avLst>
          </a:prstGeom>
          <a:solidFill>
            <a:srgbClr val="FFF4D6"/>
          </a:solidFill>
          <a:ln w="25400">
            <a:solidFill>
              <a:srgbClr val="B47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5063196" y="21497543"/>
            <a:ext cx="71780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C2340"/>
                </a:solidFill>
                <a:latin typeface="Segoe UI"/>
              </a:rPr>
              <a:t>APC+Optimized  (ours)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5063196" y="21982176"/>
            <a:ext cx="717804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0C2340"/>
                </a:solidFill>
                <a:latin typeface="Segoe UI"/>
              </a:rPr>
              <a:t>19.0%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5063196" y="22896576"/>
            <a:ext cx="717804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555560"/>
                </a:solidFill>
                <a:latin typeface="Segoe UI"/>
              </a:rPr>
              <a:t>hit rate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5063196" y="23326343"/>
            <a:ext cx="717804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 i="0">
                <a:solidFill>
                  <a:srgbClr val="141418"/>
                </a:solidFill>
                <a:latin typeface="Segoe UI"/>
              </a:rPr>
              <a:t>but  40.1 ms  TTFT</a:t>
            </a:r>
          </a:p>
          <a:p>
            <a:pPr algn="l">
              <a:lnSpc>
                <a:spcPct val="128000"/>
              </a:lnSpc>
            </a:pPr>
            <a:r>
              <a:rPr sz="2000" b="1" i="0">
                <a:solidFill>
                  <a:srgbClr val="141418"/>
                </a:solidFill>
                <a:latin typeface="Segoe UI"/>
              </a:rPr>
              <a:t>few  but  long  matches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845680" y="24318468"/>
            <a:ext cx="1554480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1" dirty="0">
                <a:solidFill>
                  <a:srgbClr val="B47200"/>
                </a:solidFill>
                <a:latin typeface="Segoe UI"/>
              </a:rPr>
              <a:t>Prefill savings scale with prefix LENGTH, not hit COUNT.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7036288" y="29213090"/>
            <a:ext cx="1417320" cy="141732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7036288" y="29240522"/>
            <a:ext cx="1417320" cy="1362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 dirty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8773648" y="29213090"/>
            <a:ext cx="13807440" cy="1417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0C2340"/>
                </a:solidFill>
                <a:latin typeface="Segoe UI"/>
              </a:rPr>
              <a:t>Cache-State Feedback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7036288" y="30795002"/>
            <a:ext cx="15544800" cy="0"/>
          </a:xfrm>
          <a:prstGeom prst="line">
            <a:avLst/>
          </a:prstGeom>
          <a:ln w="50800">
            <a:solidFill>
              <a:srgbClr val="0C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17117568" y="31130747"/>
            <a:ext cx="3783330" cy="169164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524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7036288" y="31105897"/>
            <a:ext cx="3783330" cy="8686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0C2340"/>
                </a:solidFill>
                <a:latin typeface="Segoe UI"/>
              </a:rPr>
              <a:t>99.5%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117568" y="32118299"/>
            <a:ext cx="3783330" cy="6400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555560"/>
                </a:solidFill>
                <a:latin typeface="Segoe UI"/>
              </a:rPr>
              <a:t>prediction accuracy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1038058" y="31130747"/>
            <a:ext cx="3783330" cy="169164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524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20956778" y="31105897"/>
            <a:ext cx="3783330" cy="8686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0C2340"/>
                </a:solidFill>
                <a:latin typeface="Segoe UI"/>
              </a:rPr>
              <a:t>0.049 ms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038058" y="32118299"/>
            <a:ext cx="3783330" cy="6400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555560"/>
                </a:solidFill>
                <a:latin typeface="Segoe UI"/>
              </a:rPr>
              <a:t>overhead / req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4958548" y="31130747"/>
            <a:ext cx="3783330" cy="169164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524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4877268" y="31105897"/>
            <a:ext cx="3783330" cy="8686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0C2340"/>
                </a:solidFill>
                <a:latin typeface="Segoe UI"/>
              </a:rPr>
              <a:t>0.972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958548" y="32118299"/>
            <a:ext cx="3783330" cy="6400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555560"/>
                </a:solidFill>
                <a:latin typeface="Segoe UI"/>
              </a:rPr>
              <a:t>trie↔reality  r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8879038" y="31130747"/>
            <a:ext cx="3783330" cy="169164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524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8797758" y="31105897"/>
            <a:ext cx="3783330" cy="8686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0C2340"/>
                </a:solidFill>
                <a:latin typeface="Segoe UI"/>
              </a:rPr>
              <a:t>&lt; 0.1%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8879038" y="32118299"/>
            <a:ext cx="3783330" cy="6400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555560"/>
                </a:solidFill>
                <a:latin typeface="Segoe UI"/>
              </a:rPr>
              <a:t>of TTFT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7145000" y="33050987"/>
            <a:ext cx="1417320" cy="1417320"/>
          </a:xfrm>
          <a:prstGeom prst="roundRect">
            <a:avLst>
              <a:gd name="adj" fmla="val 10000"/>
            </a:avLst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7145000" y="33078419"/>
            <a:ext cx="1417320" cy="1362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882360" y="33050987"/>
            <a:ext cx="13807440" cy="1417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0C2340"/>
                </a:solidFill>
                <a:latin typeface="Segoe UI"/>
              </a:rPr>
              <a:t>Robustness  &amp;  Generality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7145000" y="34632899"/>
            <a:ext cx="15544800" cy="0"/>
          </a:xfrm>
          <a:prstGeom prst="line">
            <a:avLst/>
          </a:prstGeom>
          <a:ln w="50800">
            <a:solidFill>
              <a:srgbClr val="0C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17145000" y="34834067"/>
            <a:ext cx="7703820" cy="105156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7346168" y="34888931"/>
            <a:ext cx="7301484" cy="44165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C2340"/>
                </a:solidFill>
                <a:latin typeface="Segoe UI"/>
              </a:rPr>
              <a:t>Concurrent load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7346168" y="35275722"/>
            <a:ext cx="7301484" cy="60990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1418"/>
                </a:solidFill>
                <a:latin typeface="Segoe UI"/>
              </a:rPr>
              <a:t>7–10% at batch 1–8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4985980" y="34834067"/>
            <a:ext cx="7703820" cy="105156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5187148" y="34888931"/>
            <a:ext cx="7301484" cy="44165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C2340"/>
                </a:solidFill>
                <a:latin typeface="Segoe UI"/>
              </a:rPr>
              <a:t>GPU memory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5187148" y="35275722"/>
            <a:ext cx="7301484" cy="60990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1418"/>
                </a:solidFill>
                <a:latin typeface="Segoe UI"/>
              </a:rPr>
              <a:t>29–31% across 0.78–0.90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7145000" y="36022787"/>
            <a:ext cx="7703820" cy="105156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7346168" y="36077651"/>
            <a:ext cx="7301484" cy="44165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C2340"/>
                </a:solidFill>
                <a:latin typeface="Segoe UI"/>
              </a:rPr>
              <a:t>Cross-arch.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346168" y="36464442"/>
            <a:ext cx="7301484" cy="60990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1418"/>
                </a:solidFill>
                <a:latin typeface="Segoe UI"/>
              </a:rPr>
              <a:t>Qwen 19/20/33%, Phi-3 18%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4985980" y="36022787"/>
            <a:ext cx="7703820" cy="105156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25187148" y="36077651"/>
            <a:ext cx="7301484" cy="44165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C2340"/>
                </a:solidFill>
                <a:latin typeface="Segoe UI"/>
              </a:rPr>
              <a:t>Real corpus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5187148" y="36464442"/>
            <a:ext cx="7301484" cy="60990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1418"/>
                </a:solidFill>
                <a:latin typeface="Segoe UI"/>
              </a:rPr>
              <a:t>10.2% on 1000 Wiki passages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7145000" y="37211507"/>
            <a:ext cx="7703820" cy="105156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7346168" y="37266371"/>
            <a:ext cx="7301484" cy="44165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C2340"/>
                </a:solidFill>
                <a:latin typeface="Segoe UI"/>
              </a:rPr>
              <a:t>Top-k sweep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7346168" y="37653162"/>
            <a:ext cx="7301484" cy="60990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1418"/>
                </a:solidFill>
                <a:latin typeface="Segoe UI"/>
              </a:rPr>
              <a:t>7.8% (k=3) → 61.2% (k=10)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4985980" y="37211507"/>
            <a:ext cx="7703820" cy="105156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25187148" y="37266371"/>
            <a:ext cx="7301484" cy="44165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C2340"/>
                </a:solidFill>
                <a:latin typeface="Segoe UI"/>
              </a:rPr>
              <a:t>Answer quality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5187148" y="37653162"/>
            <a:ext cx="7301484" cy="60990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1418"/>
                </a:solidFill>
                <a:latin typeface="Segoe UI"/>
              </a:rPr>
              <a:t>ΔEM = 0 (extractive+multi-hop)</a:t>
            </a:r>
          </a:p>
        </p:txBody>
      </p:sp>
      <p:pic>
        <p:nvPicPr>
          <p:cNvPr id="137" name="图片 136">
            <a:extLst>
              <a:ext uri="{FF2B5EF4-FFF2-40B4-BE49-F238E27FC236}">
                <a16:creationId xmlns:a16="http://schemas.microsoft.com/office/drawing/2014/main" id="{37472ED0-EDFE-6380-6F53-D8DF7BFC04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24177" y="24958548"/>
            <a:ext cx="6414997" cy="45890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422</Words>
  <Application>Microsoft Office PowerPoint</Application>
  <PresentationFormat>自定义</PresentationFormat>
  <Paragraphs>106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Consolas</vt:lpstr>
      <vt:lpstr>Segoe UI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Kz Tan</cp:lastModifiedBy>
  <cp:revision>2</cp:revision>
  <dcterms:created xsi:type="dcterms:W3CDTF">2013-01-27T09:14:16Z</dcterms:created>
  <dcterms:modified xsi:type="dcterms:W3CDTF">2026-04-15T22:44:56Z</dcterms:modified>
  <cp:category/>
</cp:coreProperties>
</file>