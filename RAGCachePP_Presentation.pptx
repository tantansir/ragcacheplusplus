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I'm Kaizhen Tan, and together with Rong Gu and Mingyuan Li, we'll present RAGCache++, a prompt-layer scheduling system that reduces LLM serving latency in RAG applications through intelligent document ordering.</a:t>
            </a:r>
          </a:p>
          <a:p/>
          <a:p>
            <a:r>
              <a:t>Our system achieves 20 to 33 percent TTFT reduction, reaches 97.5% of oracle performance, and requires only about 150 lines of Python — with absolutely zero modifications to the serving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improves LLM accuracy by injecting retrieved passages into the prompt, but this comes at a significant cost. Prompts become 2 to 10 times longer, and since prefill computation scales linearly with input length, this directly inflates Time-To-First-Token — the metric users feel most.</a:t>
            </a:r>
          </a:p>
          <a:p/>
          <a:p>
            <a:r>
              <a:t>In a typical RAG pipeline, query embedding and vector retrieval take about 10 to 50 milliseconds. But the LLM prefill — step 4 — can take 50 to 200 or more milliseconds, dominating total latency. Our goal is to reduce this prefill cost without modifying the serving engine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serving engines like vLLM provide Automatic Prefix Caching. It manages KV cache in fixed-size blocks and reuses them when requests share identical token-level prefix. The critical detail: chained hashes mean a single-token mismatch at position j invalidates ALL subsequent blocks. The diagram shows: retrieval order causes 0% reuse despite 60% overlap, while optimized ordering reuses 4 blocks and saves 66%.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is straightforward. Since APC requires exact token-level prefix matches, we can maximize cache reuse simply by reordering documents to align with cached prefixes.</a:t>
            </a:r>
          </a:p>
          <a:p/>
          <a:p>
            <a:r>
              <a:t>RAGCache++ has three core components. First, a knowledge tree — a trie indexed by document-ID sequences — that tracks which orderings are currently in the KV cache. Second, a greedy O(k) algorithm that walks the trie to find the longest cached prefix for each new request. Third, the entire system requires zero modifications to vLLM — it's about 150 lines of Python operating purely at the prompt-construction layer.</a:t>
            </a:r>
          </a:p>
          <a:p/>
          <a:p>
            <a:r>
              <a:t>The analogy is a disk I/O scheduler: it reorders requests to exploit spatial locality without modifying the disk firmware. We do the same for KV cache locality.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walks the trie greedily. At each level, it selects a child whose doc ID is in the candidate set. When no cached continuation exists, it falls back to retrieval-rank order. O(k) complexity, 97.5% of oracle, mean optimality ratio 0.997.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challenge is that the trie tracks what we've served, not what's actually resident in vLLM's cache. Under memory pressure, vLLM may evict blocks that the trie thinks are cached, leading to stale predictions.</a:t>
            </a:r>
          </a:p>
          <a:p/>
          <a:p>
            <a:r>
              <a:t>We close this gap with a TTFT-based feedback loop. The system maintains a running estimate of cold-start TTFT using an exponential moving average. After each request, it compares the trie's predicted reuse fraction with the TTFT-inferred actual reuse. When the trie predicts a significant cache hit but the observed TTFT is near-cold, we detect a mismatch and prune the stale path.</a:t>
            </a:r>
          </a:p>
          <a:p/>
          <a:p>
            <a:r>
              <a:t>This achieves 99.5% prediction accuracy with only 0.049 milliseconds of overhead — less than 0.1% of TTFT. The trie-reality correlation is 0.972, and it remains stable even under memory pressure at 0.965.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core stages: Knowledge Tree for ordering, Prompt Builder for construction, vLLM with APC for inference. The feedback loop detects trie-reality mismatches via TTFT and prunes stale paths. Wrapped in VLLMCacheProxy with FastAPI middleware. Zero engine modifications.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20-33% TTFT reduction. On 4060 Ti: 72.5 to 57.9ms (20%). On 4090: 59.6 to 40.1ms (33%). Statistically significant across 3 seeds: 16.8 +/- 1.6ms, 95% CI excludes zero. 66% prefill saved, 97.5% of oracle, &lt;0.13% overhead.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 APC+Sorted has highest hit rate (25.6%) but highest TTFT. Our optimized ordering has lower hit rate (19%) but lowest TTFT. Why? Sorted creates many short fragmented matches; our approach creates fewer but longer contiguous matches. Prefix DEPTH, not hit COUNT, drives latency.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Concurrent load: 7-10% across batch 1-8. GPU memory: 29-31% stable across 0.78-0.90. Cross-arch: Qwen2.5 (19/20/33%) + Phi-3 (18%). Overlap sensitivity: peak 30% at moderate overlap. Top-k sweep: 7.8% to 61.2%.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natural concern is whether reordering degrades answer quality. Our evaluation confirms it does not.</a:t>
            </a:r>
          </a:p>
          <a:p/>
          <a:p>
            <a:r>
              <a:t>On extractive QA with 100 questions using Qwen2.5-7B, both orderings achieve perfect exact match of 1.000. Delta EM equals zero — absolutely no degradation.</a:t>
            </a:r>
          </a:p>
          <a:p/>
          <a:p>
            <a:r>
              <a:t>For multi-hop reasoning, which is a harder test — we used 40 two-hop examples where passage A contains "X is related to Y" and passage B contains "Y leads to Z." We tested four conditions: natural and reversed evidence order, crossed with retrieval and optimized document ordering.</a:t>
            </a:r>
          </a:p>
          <a:p/>
          <a:p>
            <a:r>
              <a:t>Two findings: first, evidence order matters — natural ordering yields higher EM than reversed. Second, and crucially, within each evidence configuration, our document reordering produces identical quality. Delta EM equals zero, Delta F1 equals zero. This is because we change only the order of passages in the prompt, not their content.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synthetic benchmarks, we evaluate on four diverse workloads.</a:t>
            </a:r>
          </a:p>
          <a:p/>
          <a:p>
            <a:r>
              <a:t>On a geospatial workload with natural spatial locality — Jaccard 0.17 — we see 4.5% improvement. The lower gain is expected: with low overlap, there's less room for prefix optimization.</a:t>
            </a:r>
          </a:p>
          <a:p/>
          <a:p>
            <a:r>
              <a:t>On NQ-Open with very high overlap — Jaccard 0.88 — we see only 2.3%, because retrieval order already produces near-maximal prefix alignment at such high overlap.</a:t>
            </a:r>
          </a:p>
          <a:p/>
          <a:p>
            <a:r>
              <a:t>On a mixed-topic workload with 30% topic switching — Jaccard 0.31 — we get 16.3% improvement. And on a real corpus of 1000 Wikipedia passages with TF-IDF retrieval and NO controlled overlap parameter, we still achieve 10.2%.</a:t>
            </a:r>
          </a:p>
          <a:p/>
          <a:p>
            <a:r>
              <a:t>The pattern is clear: ordering benefits scale with the moderate-overlap regime, Jaccard around 0.3 to 0.5, which characterizes real multi-topic RAG deployments where users shift between related subjects.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systems perspective, our overhead is minimal. The ordering step takes 22.2 microseconds, prompt construction 44.4 microseconds — together 66 microseconds or less than 0.13% of total latency. Meanwhile, inference p50 drops by 29%.</a:t>
            </a:r>
          </a:p>
          <a:p/>
          <a:p>
            <a:r>
              <a:t>Throughput is completely unaffected. Both sequential and batched processing show identical throughput because ordering affects only the prefill path, not decode.</a:t>
            </a:r>
          </a:p>
          <a:p/>
          <a:p>
            <a:r>
              <a:t>GPU memory is identical — vLLM pre-allocates a fixed KV cache pool. Our ordering changes which blocks within this pool are reused, not the pool size itself. The knowledge tree resides in host memory and uses less than 1 megabyte.</a:t>
            </a:r>
          </a:p>
          <a:p/>
          <a:p>
            <a:r>
              <a:t>For pipelining, we overlap system prompt prefill with retrieval using a simple ThreadPoolExecutor. At a realistic 50 millisecond retrieval latency, this reduces cold-start TTFT from 106.8 to 78.8 milliseconds — a 26% reduction. No engine modifications needed.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RAGCache modifies engine; we match benefits at prompt layer. ContextPilot validates the abstraction. CacheBlend/TurboRAG are complementary. Our contribution: deployment-ready, engine-agnostic, near-optimal, closed-loop feedback.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RAGCache++ demonstrates that a thin prompt-layer scheduling policy can recover substantial cache locality in RAG serving.</a:t>
            </a:r>
          </a:p>
          <a:p/>
          <a:p>
            <a:r>
              <a:t>Our headline results: 20 to 33% TTFT reduction with less than 0.13% overhead. 66% of prefill computation saved at the median. 97.5% of oracle performance with an O(k) greedy algorithm. All with about 150 lines of Python and zero engine modifications.</a:t>
            </a:r>
          </a:p>
          <a:p/>
          <a:p>
            <a:r>
              <a:t>The closed-loop feedback mechanism achieves 99.5% prediction accuracy, keeping the trie synchronized with vLLM's actual cache state. And the approach generalizes across 4 model sizes, 2 architectures, and 5 diverse workloads.</a:t>
            </a:r>
          </a:p>
          <a:p/>
          <a:p>
            <a:r>
              <a:t>Our key systems insight is that prefix depth — not hit count — is the relevant metric for latency reduction in prefix-caching systems.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We're happy to take any questions about RAGCache++, our experimental methodology, or the systems insights we've discussed.</a:t>
            </a:r>
          </a:p>
          <a:p/>
          <a:p>
            <a:r>
              <a:t>The code is available at github.com/tantansir/RAGCachePlusPlus.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cxnSp>
        <p:nvCxnSpPr>
          <p:cNvPr id="2" name="Connector 1"/>
          <p:cNvCxnSpPr/>
          <p:nvPr/>
        </p:nvCxnSpPr>
        <p:spPr>
          <a:xfrm>
            <a:off x="0" y="2286000"/>
            <a:ext cx="3657600" cy="0"/>
          </a:xfrm>
          <a:prstGeom prst="line">
            <a:avLst/>
          </a:prstGeom>
          <a:ln w="12700">
            <a:solidFill>
              <a:srgbClr val="1A3A25"/>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3657600" y="223113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3767328" y="2286000"/>
            <a:ext cx="1261872" cy="0"/>
          </a:xfrm>
          <a:prstGeom prst="line">
            <a:avLst/>
          </a:prstGeom>
          <a:ln w="12700">
            <a:solidFill>
              <a:srgbClr val="00FF8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4572000"/>
            <a:ext cx="3931920" cy="0"/>
          </a:xfrm>
          <a:prstGeom prst="line">
            <a:avLst/>
          </a:prstGeom>
          <a:ln w="12700">
            <a:solidFill>
              <a:srgbClr val="1A3A25"/>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119872" y="451713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97280"/>
            <a:ext cx="4572000" cy="365760"/>
          </a:xfrm>
          <a:prstGeom prst="rect">
            <a:avLst/>
          </a:prstGeom>
          <a:noFill/>
        </p:spPr>
        <p:txBody>
          <a:bodyPr wrap="square">
            <a:spAutoFit/>
          </a:bodyPr>
          <a:lstStyle/>
          <a:p>
            <a:pPr algn="l">
              <a:spcAft>
                <a:spcPts val="600"/>
              </a:spcAft>
              <a:defRPr sz="1300" b="0">
                <a:solidFill>
                  <a:srgbClr val="00FF88"/>
                </a:solidFill>
                <a:latin typeface="Consolas"/>
              </a:defRPr>
            </a:pPr>
            <a:r>
              <a:t>&gt; CMU 11-868  •  LLM Systems  •  Spring 2026</a:t>
            </a:r>
          </a:p>
        </p:txBody>
      </p:sp>
      <p:sp>
        <p:nvSpPr>
          <p:cNvPr id="8" name="TextBox 7"/>
          <p:cNvSpPr txBox="1"/>
          <p:nvPr/>
        </p:nvSpPr>
        <p:spPr>
          <a:xfrm>
            <a:off x="731520" y="2560320"/>
            <a:ext cx="10058400" cy="1828800"/>
          </a:xfrm>
          <a:prstGeom prst="rect">
            <a:avLst/>
          </a:prstGeom>
          <a:noFill/>
        </p:spPr>
        <p:txBody>
          <a:bodyPr wrap="square">
            <a:spAutoFit/>
          </a:bodyPr>
          <a:lstStyle/>
          <a:p>
            <a:pPr algn="l">
              <a:spcAft>
                <a:spcPts val="200"/>
              </a:spcAft>
              <a:defRPr sz="5200" b="1">
                <a:solidFill>
                  <a:srgbClr val="FFFFFF"/>
                </a:solidFill>
                <a:latin typeface="Segoe UI"/>
              </a:defRPr>
            </a:pPr>
            <a:r>
              <a:t>RAGCache++</a:t>
            </a:r>
          </a:p>
          <a:p>
            <a:pPr algn="l">
              <a:spcAft>
                <a:spcPts val="200"/>
              </a:spcAft>
              <a:defRPr sz="3600" b="1">
                <a:solidFill>
                  <a:srgbClr val="00FF88"/>
                </a:solidFill>
                <a:latin typeface="Segoe UI"/>
              </a:defRPr>
            </a:pPr>
            <a:r>
              <a:t>Cache-Aware Document Ordering</a:t>
            </a:r>
          </a:p>
          <a:p>
            <a:pPr algn="l">
              <a:spcAft>
                <a:spcPts val="600"/>
              </a:spcAft>
              <a:defRPr sz="3600" b="1">
                <a:solidFill>
                  <a:srgbClr val="00FF88"/>
                </a:solidFill>
                <a:latin typeface="Segoe UI"/>
              </a:defRPr>
            </a:pPr>
            <a:r>
              <a:t>for Low-Latency RAG Serving</a:t>
            </a:r>
          </a:p>
        </p:txBody>
      </p:sp>
      <p:sp>
        <p:nvSpPr>
          <p:cNvPr id="9" name="TextBox 8"/>
          <p:cNvSpPr txBox="1"/>
          <p:nvPr/>
        </p:nvSpPr>
        <p:spPr>
          <a:xfrm>
            <a:off x="731520" y="4754880"/>
            <a:ext cx="9144000" cy="457200"/>
          </a:xfrm>
          <a:prstGeom prst="rect">
            <a:avLst/>
          </a:prstGeom>
          <a:noFill/>
        </p:spPr>
        <p:txBody>
          <a:bodyPr wrap="square">
            <a:spAutoFit/>
          </a:bodyPr>
          <a:lstStyle/>
          <a:p>
            <a:pPr algn="l">
              <a:spcAft>
                <a:spcPts val="600"/>
              </a:spcAft>
              <a:defRPr sz="1600" b="0">
                <a:solidFill>
                  <a:srgbClr val="8B949E"/>
                </a:solidFill>
                <a:latin typeface="Segoe UI"/>
              </a:defRPr>
            </a:pPr>
            <a:r>
              <a:t>Prompt-layer scheduling that reduces TTFT by 20–33% with zero engine modifications</a:t>
            </a:r>
          </a:p>
        </p:txBody>
      </p:sp>
      <p:sp>
        <p:nvSpPr>
          <p:cNvPr id="10" name="TextBox 9"/>
          <p:cNvSpPr txBox="1"/>
          <p:nvPr/>
        </p:nvSpPr>
        <p:spPr>
          <a:xfrm>
            <a:off x="731520" y="5669280"/>
            <a:ext cx="9144000" cy="731520"/>
          </a:xfrm>
          <a:prstGeom prst="rect">
            <a:avLst/>
          </a:prstGeom>
          <a:noFill/>
        </p:spPr>
        <p:txBody>
          <a:bodyPr wrap="square">
            <a:spAutoFit/>
          </a:bodyPr>
          <a:lstStyle/>
          <a:p>
            <a:pPr algn="l">
              <a:spcAft>
                <a:spcPts val="200"/>
              </a:spcAft>
              <a:defRPr sz="1600" b="0">
                <a:solidFill>
                  <a:srgbClr val="FFFFFF"/>
                </a:solidFill>
                <a:latin typeface="Segoe UI"/>
              </a:defRPr>
            </a:pPr>
            <a:r>
              <a:t>Kaizhen Tan  •  Rong Gu  •  Mingyuan Li</a:t>
            </a:r>
          </a:p>
          <a:p>
            <a:pPr algn="l">
              <a:spcAft>
                <a:spcPts val="600"/>
              </a:spcAft>
              <a:defRPr sz="1200" b="0">
                <a:solidFill>
                  <a:srgbClr val="484F58"/>
                </a:solidFill>
                <a:latin typeface="Segoe UI"/>
              </a:defRPr>
            </a:pPr>
            <a:r>
              <a:t>Heinz College, Carnegie Mellon University</a:t>
            </a:r>
          </a:p>
        </p:txBody>
      </p:sp>
      <p:sp>
        <p:nvSpPr>
          <p:cNvPr id="11" name="Rounded Rectangle 10"/>
          <p:cNvSpPr/>
          <p:nvPr/>
        </p:nvSpPr>
        <p:spPr>
          <a:xfrm>
            <a:off x="6858000" y="5669280"/>
            <a:ext cx="4754880" cy="457200"/>
          </a:xfrm>
          <a:prstGeom prst="roundRect">
            <a:avLst/>
          </a:prstGeom>
          <a:solidFill>
            <a:srgbClr val="0D3320"/>
          </a:solidFill>
          <a:ln w="12700">
            <a:solidFill>
              <a:srgbClr val="1A5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FF88"/>
                </a:solidFill>
                <a:latin typeface="Consolas"/>
              </a:defRPr>
            </a:pPr>
            <a:r>
              <a:t>20–33% TTFT ↓   •   97.5% Oracle   •   ~150 LOC</a:t>
            </a:r>
          </a:p>
        </p:txBody>
      </p:sp>
      <p:sp>
        <p:nvSpPr>
          <p:cNvPr id="12" name="TextBox 11"/>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01  MOTIVATION</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The RAG Latency Problem</a:t>
            </a:r>
          </a:p>
        </p:txBody>
      </p:sp>
      <p:sp>
        <p:nvSpPr>
          <p:cNvPr id="5" name="TextBox 4"/>
          <p:cNvSpPr txBox="1"/>
          <p:nvPr/>
        </p:nvSpPr>
        <p:spPr>
          <a:xfrm>
            <a:off x="548640" y="2103120"/>
            <a:ext cx="5943600" cy="4114800"/>
          </a:xfrm>
          <a:prstGeom prst="rect">
            <a:avLst/>
          </a:prstGeom>
          <a:noFill/>
        </p:spPr>
        <p:txBody>
          <a:bodyPr wrap="square">
            <a:spAutoFit/>
          </a:bodyPr>
          <a:lstStyle/>
          <a:p>
            <a:pPr algn="l">
              <a:spcAft>
                <a:spcPts val="1400"/>
              </a:spcAft>
              <a:defRPr sz="2000" b="1">
                <a:solidFill>
                  <a:srgbClr val="00FF88"/>
                </a:solidFill>
                <a:latin typeface="Segoe UI"/>
              </a:defRPr>
            </a:pPr>
            <a:r>
              <a:t>RAG improves accuracy but inflates latency</a:t>
            </a:r>
          </a:p>
          <a:p>
            <a:pPr algn="l">
              <a:spcAft>
                <a:spcPts val="1000"/>
              </a:spcAft>
              <a:defRPr sz="1700" b="0">
                <a:solidFill>
                  <a:srgbClr val="FFFFFF"/>
                </a:solidFill>
                <a:latin typeface="Segoe UI"/>
              </a:defRPr>
            </a:pPr>
            <a:r>
              <a:t>• Retrieved documents make prompts 2–10× longer</a:t>
            </a:r>
          </a:p>
          <a:p>
            <a:pPr algn="l">
              <a:spcAft>
                <a:spcPts val="1000"/>
              </a:spcAft>
              <a:defRPr sz="1700" b="0">
                <a:solidFill>
                  <a:srgbClr val="FFFFFF"/>
                </a:solidFill>
                <a:latin typeface="Segoe UI"/>
              </a:defRPr>
            </a:pPr>
            <a:r>
              <a:t>• Prefill cost scales as O(n·d) — dominates serving</a:t>
            </a:r>
          </a:p>
          <a:p>
            <a:pPr algn="l">
              <a:spcAft>
                <a:spcPts val="1000"/>
              </a:spcAft>
              <a:defRPr sz="1700" b="0">
                <a:solidFill>
                  <a:srgbClr val="FFFFFF"/>
                </a:solidFill>
                <a:latin typeface="Segoe UI"/>
              </a:defRPr>
            </a:pPr>
            <a:r>
              <a:t>• TTFT (Time-To-First-Token) = what users feel</a:t>
            </a:r>
          </a:p>
          <a:p>
            <a:pPr algn="l">
              <a:spcAft>
                <a:spcPts val="400"/>
              </a:spcAft>
              <a:defRPr sz="1500" b="0">
                <a:solidFill>
                  <a:srgbClr val="8B949E"/>
                </a:solidFill>
                <a:latin typeface="Segoe UI"/>
              </a:defRPr>
            </a:pPr>
            <a:r>
              <a:t>• Steps 1–3 (embed, retrieve, build): ~10–50 ms</a:t>
            </a:r>
          </a:p>
          <a:p>
            <a:pPr algn="l">
              <a:spcAft>
                <a:spcPts val="1400"/>
              </a:spcAft>
              <a:defRPr sz="1500" b="0">
                <a:solidFill>
                  <a:srgbClr val="8B949E"/>
                </a:solidFill>
                <a:latin typeface="Segoe UI"/>
              </a:defRPr>
            </a:pPr>
            <a:r>
              <a:t>• Step 4 (LLM inference / prefill): 50–200+ ms</a:t>
            </a:r>
          </a:p>
          <a:p>
            <a:pPr algn="l">
              <a:spcAft>
                <a:spcPts val="600"/>
              </a:spcAft>
              <a:defRPr sz="1700" b="1">
                <a:solidFill>
                  <a:srgbClr val="E3B341"/>
                </a:solidFill>
                <a:latin typeface="Segoe UI"/>
              </a:defRPr>
            </a:pPr>
            <a:r>
              <a:t>Goal: reduce prefill cost without modifying the engine.</a:t>
            </a:r>
          </a:p>
        </p:txBody>
      </p:sp>
      <p:sp>
        <p:nvSpPr>
          <p:cNvPr id="6" name="Rounded Rectangle 5"/>
          <p:cNvSpPr/>
          <p:nvPr/>
        </p:nvSpPr>
        <p:spPr>
          <a:xfrm>
            <a:off x="6949440" y="2103120"/>
            <a:ext cx="4754880" cy="41148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600" b="1">
                <a:solidFill>
                  <a:srgbClr val="00FF88"/>
                </a:solidFill>
                <a:latin typeface="Consolas"/>
              </a:defRPr>
            </a:pPr>
            <a:r>
              <a:t>RAG Pipeline</a:t>
            </a:r>
          </a:p>
          <a:p>
            <a:pPr algn="l">
              <a:spcAft>
                <a:spcPts val="200"/>
              </a:spcAft>
              <a:defRPr sz="1300" b="0">
                <a:solidFill>
                  <a:srgbClr val="8B949E"/>
                </a:solidFill>
                <a:latin typeface="Consolas"/>
              </a:defRPr>
            </a:pPr>
            <a:r>
              <a:t>  ┌─────────────────────┐</a:t>
            </a:r>
          </a:p>
          <a:p>
            <a:pPr algn="l">
              <a:spcAft>
                <a:spcPts val="200"/>
              </a:spcAft>
              <a:defRPr sz="1300" b="0">
                <a:solidFill>
                  <a:srgbClr val="8B949E"/>
                </a:solidFill>
                <a:latin typeface="Consolas"/>
              </a:defRPr>
            </a:pPr>
            <a:r>
              <a:t>  │  1. Query Embedding  │  ~5 ms</a:t>
            </a:r>
          </a:p>
          <a:p>
            <a:pPr algn="l">
              <a:spcAft>
                <a:spcPts val="200"/>
              </a:spcAft>
              <a:defRPr sz="1300" b="0">
                <a:solidFill>
                  <a:srgbClr val="8B949E"/>
                </a:solidFill>
                <a:latin typeface="Consolas"/>
              </a:defRPr>
            </a:pPr>
            <a:r>
              <a:t>  ├─────────────────────┤</a:t>
            </a:r>
          </a:p>
          <a:p>
            <a:pPr algn="l">
              <a:spcAft>
                <a:spcPts val="200"/>
              </a:spcAft>
              <a:defRPr sz="1300" b="0">
                <a:solidFill>
                  <a:srgbClr val="8B949E"/>
                </a:solidFill>
                <a:latin typeface="Consolas"/>
              </a:defRPr>
            </a:pPr>
            <a:r>
              <a:t>  │  2. Vector Retrieval │  ~20 ms</a:t>
            </a:r>
          </a:p>
          <a:p>
            <a:pPr algn="l">
              <a:spcAft>
                <a:spcPts val="200"/>
              </a:spcAft>
              <a:defRPr sz="1300" b="0">
                <a:solidFill>
                  <a:srgbClr val="8B949E"/>
                </a:solidFill>
                <a:latin typeface="Consolas"/>
              </a:defRPr>
            </a:pPr>
            <a:r>
              <a:t>  ├─────────────────────┤</a:t>
            </a:r>
          </a:p>
          <a:p>
            <a:pPr algn="l">
              <a:spcAft>
                <a:spcPts val="200"/>
              </a:spcAft>
              <a:defRPr sz="1300" b="0">
                <a:solidFill>
                  <a:srgbClr val="8B949E"/>
                </a:solidFill>
                <a:latin typeface="Consolas"/>
              </a:defRPr>
            </a:pPr>
            <a:r>
              <a:t>  │  3. Prompt Build     │  ~1 ms</a:t>
            </a:r>
          </a:p>
          <a:p>
            <a:pPr algn="l">
              <a:spcAft>
                <a:spcPts val="200"/>
              </a:spcAft>
              <a:defRPr sz="1300" b="0">
                <a:solidFill>
                  <a:srgbClr val="00FF88"/>
                </a:solidFill>
                <a:latin typeface="Consolas"/>
              </a:defRPr>
            </a:pPr>
            <a:r>
              <a:t>  ├═════════════════════┤</a:t>
            </a:r>
          </a:p>
          <a:p>
            <a:pPr algn="l">
              <a:spcAft>
                <a:spcPts val="200"/>
              </a:spcAft>
              <a:defRPr sz="1300" b="1">
                <a:solidFill>
                  <a:srgbClr val="00FF88"/>
                </a:solidFill>
                <a:latin typeface="Consolas"/>
              </a:defRPr>
            </a:pPr>
            <a:r>
              <a:t>  │  4. LLM PREFILL     │  50–200 ms</a:t>
            </a:r>
          </a:p>
          <a:p>
            <a:pPr algn="l">
              <a:spcAft>
                <a:spcPts val="200"/>
              </a:spcAft>
              <a:defRPr sz="1300" b="0">
                <a:solidFill>
                  <a:srgbClr val="FF7B72"/>
                </a:solidFill>
                <a:latin typeface="Consolas"/>
              </a:defRPr>
            </a:pPr>
            <a:r>
              <a:t>  │     ← bottleneck    │</a:t>
            </a:r>
          </a:p>
          <a:p>
            <a:pPr algn="l">
              <a:spcAft>
                <a:spcPts val="600"/>
              </a:spcAft>
              <a:defRPr sz="1300" b="0">
                <a:solidFill>
                  <a:srgbClr val="8B949E"/>
                </a:solidFill>
                <a:latin typeface="Consolas"/>
              </a:defRPr>
            </a:pPr>
            <a:r>
              <a:t>  └─────────────────────┘</a:t>
            </a:r>
          </a:p>
        </p:txBody>
      </p:sp>
      <p:sp>
        <p:nvSpPr>
          <p:cNvPr id="7" name="TextBox 6"/>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2/16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02  BACKGROUND</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vLLM's Automatic Prefix Caching (APC)</a:t>
            </a:r>
          </a:p>
        </p:txBody>
      </p:sp>
      <p:sp>
        <p:nvSpPr>
          <p:cNvPr id="5" name="TextBox 4"/>
          <p:cNvSpPr txBox="1"/>
          <p:nvPr/>
        </p:nvSpPr>
        <p:spPr>
          <a:xfrm>
            <a:off x="548640" y="1645920"/>
            <a:ext cx="5029200" cy="1280160"/>
          </a:xfrm>
          <a:prstGeom prst="rect">
            <a:avLst/>
          </a:prstGeom>
          <a:noFill/>
        </p:spPr>
        <p:txBody>
          <a:bodyPr wrap="square">
            <a:spAutoFit/>
          </a:bodyPr>
          <a:lstStyle/>
          <a:p>
            <a:pPr algn="l">
              <a:spcAft>
                <a:spcPts val="600"/>
              </a:spcAft>
              <a:defRPr sz="1700" b="1">
                <a:solidFill>
                  <a:srgbClr val="00FF88"/>
                </a:solidFill>
                <a:latin typeface="Segoe UI"/>
              </a:defRPr>
            </a:pPr>
            <a:r>
              <a:t>How APC works</a:t>
            </a:r>
          </a:p>
          <a:p>
            <a:pPr algn="l">
              <a:spcAft>
                <a:spcPts val="400"/>
              </a:spcAft>
              <a:defRPr sz="1400" b="0">
                <a:solidFill>
                  <a:srgbClr val="FFFFFF"/>
                </a:solidFill>
                <a:latin typeface="Segoe UI"/>
              </a:defRPr>
            </a:pPr>
            <a:r>
              <a:t>• KV cache in fixed-size blocks (PagedAttention)</a:t>
            </a:r>
          </a:p>
          <a:p>
            <a:pPr algn="l">
              <a:spcAft>
                <a:spcPts val="400"/>
              </a:spcAft>
              <a:defRPr sz="1400" b="0">
                <a:solidFill>
                  <a:srgbClr val="FFFFFF"/>
                </a:solidFill>
                <a:latin typeface="Segoe UI"/>
              </a:defRPr>
            </a:pPr>
            <a:r>
              <a:t>• Reuses blocks when requests share identical prefix</a:t>
            </a:r>
          </a:p>
          <a:p>
            <a:pPr algn="l">
              <a:spcAft>
                <a:spcPts val="600"/>
              </a:spcAft>
              <a:defRPr sz="1400" b="0">
                <a:solidFill>
                  <a:srgbClr val="FFFFFF"/>
                </a:solidFill>
                <a:latin typeface="Segoe UI"/>
              </a:defRPr>
            </a:pPr>
            <a:r>
              <a:t>• Chained hashes: mismatch at pos j → all ≥ j invalid</a:t>
            </a:r>
          </a:p>
        </p:txBody>
      </p:sp>
      <p:sp>
        <p:nvSpPr>
          <p:cNvPr id="6" name="TextBox 5"/>
          <p:cNvSpPr txBox="1"/>
          <p:nvPr/>
        </p:nvSpPr>
        <p:spPr>
          <a:xfrm>
            <a:off x="5943600" y="1645920"/>
            <a:ext cx="5669280" cy="1280160"/>
          </a:xfrm>
          <a:prstGeom prst="rect">
            <a:avLst/>
          </a:prstGeom>
          <a:noFill/>
        </p:spPr>
        <p:txBody>
          <a:bodyPr wrap="square">
            <a:spAutoFit/>
          </a:bodyPr>
          <a:lstStyle/>
          <a:p>
            <a:pPr algn="l">
              <a:spcAft>
                <a:spcPts val="600"/>
              </a:spcAft>
              <a:defRPr sz="1700" b="1">
                <a:solidFill>
                  <a:srgbClr val="E3B341"/>
                </a:solidFill>
                <a:latin typeface="Segoe UI"/>
              </a:defRPr>
            </a:pPr>
            <a:r>
              <a:t>The gap we target:</a:t>
            </a:r>
          </a:p>
          <a:p>
            <a:pPr algn="l">
              <a:spcAft>
                <a:spcPts val="600"/>
              </a:spcAft>
              <a:defRPr sz="1400" b="0">
                <a:solidFill>
                  <a:srgbClr val="FFFFFF"/>
                </a:solidFill>
                <a:latin typeface="Segoe UI"/>
              </a:defRPr>
            </a:pPr>
            <a:r>
              <a:t>RAG retrieval → document level</a:t>
            </a:r>
            <a:br/>
            <a:r>
              <a:t>Prefix caching → token level</a:t>
            </a:r>
            <a:br/>
            <a:r>
              <a:t>Different ordering = no reuse</a:t>
            </a:r>
          </a:p>
        </p:txBody>
      </p:sp>
      <p:pic>
        <p:nvPicPr>
          <p:cNvPr id="7" name="Picture 6" descr="image.png"/>
          <p:cNvPicPr>
            <a:picLocks noChangeAspect="1"/>
          </p:cNvPicPr>
          <p:nvPr/>
        </p:nvPicPr>
        <p:blipFill>
          <a:blip r:embed="rId3"/>
          <a:stretch>
            <a:fillRect/>
          </a:stretch>
        </p:blipFill>
        <p:spPr>
          <a:xfrm>
            <a:off x="182880" y="3200400"/>
            <a:ext cx="11795760" cy="3785964"/>
          </a:xfrm>
          <a:prstGeom prst="rect">
            <a:avLst/>
          </a:prstGeom>
        </p:spPr>
      </p:pic>
      <p:sp>
        <p:nvSpPr>
          <p:cNvPr id="8" name="TextBox 7"/>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3/16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03  APPROACH</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RAGCache++: Prompt-Layer Cache Scheduling</a:t>
            </a:r>
          </a:p>
        </p:txBody>
      </p:sp>
      <p:sp>
        <p:nvSpPr>
          <p:cNvPr id="5" name="Rounded Rectangle 4"/>
          <p:cNvSpPr/>
          <p:nvPr/>
        </p:nvSpPr>
        <p:spPr>
          <a:xfrm>
            <a:off x="548640" y="2011680"/>
            <a:ext cx="11064240" cy="1097280"/>
          </a:xfrm>
          <a:prstGeom prst="roundRect">
            <a:avLst/>
          </a:prstGeom>
          <a:solidFill>
            <a:srgbClr val="0D3320"/>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400" b="1">
                <a:solidFill>
                  <a:srgbClr val="00FF88"/>
                </a:solidFill>
                <a:latin typeface="Consolas"/>
              </a:defRPr>
            </a:pPr>
            <a:r>
              <a:t>  Key Insight</a:t>
            </a:r>
          </a:p>
          <a:p>
            <a:pPr algn="l">
              <a:spcAft>
                <a:spcPts val="200"/>
              </a:spcAft>
              <a:defRPr sz="1800" b="0">
                <a:solidFill>
                  <a:srgbClr val="FFFFFF"/>
                </a:solidFill>
                <a:latin typeface="Segoe UI"/>
              </a:defRPr>
            </a:pPr>
            <a:r>
              <a:t>  Reorder documents to align with cached prefixes → converts document overlap into APC-aligned token prefixes</a:t>
            </a:r>
          </a:p>
        </p:txBody>
      </p:sp>
      <p:sp>
        <p:nvSpPr>
          <p:cNvPr id="6" name="Rounded Rectangle 5"/>
          <p:cNvSpPr/>
          <p:nvPr/>
        </p:nvSpPr>
        <p:spPr>
          <a:xfrm>
            <a:off x="548640" y="3474720"/>
            <a:ext cx="3383280" cy="20116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Consolas"/>
              </a:defRPr>
            </a:pPr>
            <a:r>
              <a:t>01</a:t>
            </a:r>
          </a:p>
          <a:p>
            <a:pPr>
              <a:spcAft>
                <a:spcPts val="800"/>
              </a:spcAft>
              <a:defRPr sz="1800" b="1">
                <a:solidFill>
                  <a:srgbClr val="FFFFFF"/>
                </a:solidFill>
                <a:latin typeface="Segoe UI"/>
              </a:defRPr>
            </a:pPr>
            <a:r>
              <a:t>Knowledge Tree</a:t>
            </a:r>
          </a:p>
          <a:p>
            <a:pPr>
              <a:defRPr sz="1400">
                <a:solidFill>
                  <a:srgbClr val="8B949E"/>
                </a:solidFill>
                <a:latin typeface="Segoe UI"/>
              </a:defRPr>
            </a:pPr>
            <a:r>
              <a:t>Trie indexed by doc-ID sequences</a:t>
            </a:r>
            <a:br/>
            <a:r>
              <a:t>tracks cached orderings</a:t>
            </a:r>
          </a:p>
        </p:txBody>
      </p:sp>
      <p:sp>
        <p:nvSpPr>
          <p:cNvPr id="7" name="Rounded Rectangle 6"/>
          <p:cNvSpPr/>
          <p:nvPr/>
        </p:nvSpPr>
        <p:spPr>
          <a:xfrm>
            <a:off x="4297680" y="3474720"/>
            <a:ext cx="3383280" cy="20116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Consolas"/>
              </a:defRPr>
            </a:pPr>
            <a:r>
              <a:t>02</a:t>
            </a:r>
          </a:p>
          <a:p>
            <a:pPr>
              <a:spcAft>
                <a:spcPts val="800"/>
              </a:spcAft>
              <a:defRPr sz="1800" b="1">
                <a:solidFill>
                  <a:srgbClr val="FFFFFF"/>
                </a:solidFill>
                <a:latin typeface="Segoe UI"/>
              </a:defRPr>
            </a:pPr>
            <a:r>
              <a:t>Greedy Algorithm</a:t>
            </a:r>
          </a:p>
          <a:p>
            <a:pPr>
              <a:defRPr sz="1400">
                <a:solidFill>
                  <a:srgbClr val="8B949E"/>
                </a:solidFill>
                <a:latin typeface="Segoe UI"/>
              </a:defRPr>
            </a:pPr>
            <a:r>
              <a:t>O(k) trie walk finds longest</a:t>
            </a:r>
            <a:br/>
            <a:r>
              <a:t>cached prefix per request</a:t>
            </a:r>
          </a:p>
        </p:txBody>
      </p:sp>
      <p:sp>
        <p:nvSpPr>
          <p:cNvPr id="8" name="Rounded Rectangle 7"/>
          <p:cNvSpPr/>
          <p:nvPr/>
        </p:nvSpPr>
        <p:spPr>
          <a:xfrm>
            <a:off x="8046720" y="3474720"/>
            <a:ext cx="3383280" cy="20116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Consolas"/>
              </a:defRPr>
            </a:pPr>
            <a:r>
              <a:t>03</a:t>
            </a:r>
          </a:p>
          <a:p>
            <a:pPr>
              <a:spcAft>
                <a:spcPts val="800"/>
              </a:spcAft>
              <a:defRPr sz="1800" b="1">
                <a:solidFill>
                  <a:srgbClr val="FFFFFF"/>
                </a:solidFill>
                <a:latin typeface="Segoe UI"/>
              </a:defRPr>
            </a:pPr>
            <a:r>
              <a:t>Zero Modifications</a:t>
            </a:r>
          </a:p>
          <a:p>
            <a:pPr>
              <a:defRPr sz="1400">
                <a:solidFill>
                  <a:srgbClr val="8B949E"/>
                </a:solidFill>
                <a:latin typeface="Segoe UI"/>
              </a:defRPr>
            </a:pPr>
            <a:r>
              <a:t>~150 lines of Python</a:t>
            </a:r>
            <a:br/>
            <a:r>
              <a:t>prompt-layer only, any engine</a:t>
            </a:r>
          </a:p>
        </p:txBody>
      </p:sp>
      <p:sp>
        <p:nvSpPr>
          <p:cNvPr id="9" name="TextBox 8"/>
          <p:cNvSpPr txBox="1"/>
          <p:nvPr/>
        </p:nvSpPr>
        <p:spPr>
          <a:xfrm>
            <a:off x="548640" y="5760720"/>
            <a:ext cx="10972800" cy="548640"/>
          </a:xfrm>
          <a:prstGeom prst="rect">
            <a:avLst/>
          </a:prstGeom>
          <a:noFill/>
        </p:spPr>
        <p:txBody>
          <a:bodyPr wrap="square">
            <a:spAutoFit/>
          </a:bodyPr>
          <a:lstStyle/>
          <a:p>
            <a:pPr algn="l">
              <a:spcAft>
                <a:spcPts val="600"/>
              </a:spcAft>
              <a:defRPr sz="1400" b="0">
                <a:solidFill>
                  <a:srgbClr val="484F58"/>
                </a:solidFill>
                <a:latin typeface="Segoe UI"/>
              </a:defRPr>
            </a:pPr>
            <a:r>
              <a:t>Analogy: like a disk I/O scheduler reordering requests for spatial locality — without modifying the disk firmware.</a:t>
            </a:r>
          </a:p>
        </p:txBody>
      </p:sp>
      <p:sp>
        <p:nvSpPr>
          <p:cNvPr id="10" name="TextBox 9"/>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4/16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03  ALGORITHM</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Greedy Ordering Algorithm</a:t>
            </a:r>
          </a:p>
        </p:txBody>
      </p:sp>
      <p:sp>
        <p:nvSpPr>
          <p:cNvPr id="5" name="Rounded Rectangle 4"/>
          <p:cNvSpPr/>
          <p:nvPr/>
        </p:nvSpPr>
        <p:spPr>
          <a:xfrm>
            <a:off x="548640" y="1920240"/>
            <a:ext cx="5669280" cy="38404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00FF88"/>
                </a:solidFill>
                <a:latin typeface="Consolas"/>
              </a:defRPr>
            </a:pPr>
            <a:r>
              <a:t>  Cache-Aware Document Ordering</a:t>
            </a:r>
          </a:p>
          <a:p>
            <a:pPr algn="l">
              <a:spcAft>
                <a:spcPts val="300"/>
              </a:spcAft>
              <a:defRPr sz="1200" b="0">
                <a:solidFill>
                  <a:srgbClr val="8B949E"/>
                </a:solidFill>
                <a:latin typeface="Consolas"/>
              </a:defRPr>
            </a:pPr>
            <a:r>
              <a:t>  Input: docs D = {d₁,...,dₖ}, trie T</a:t>
            </a:r>
          </a:p>
          <a:p>
            <a:pPr algn="l">
              <a:spcAft>
                <a:spcPts val="800"/>
              </a:spcAft>
              <a:defRPr sz="1200" b="0">
                <a:solidFill>
                  <a:srgbClr val="8B949E"/>
                </a:solidFill>
                <a:latin typeface="Consolas"/>
              </a:defRPr>
            </a:pPr>
            <a:r>
              <a:t>  Output: ordered sequence O</a:t>
            </a:r>
          </a:p>
          <a:p>
            <a:pPr algn="l">
              <a:spcAft>
                <a:spcPts val="300"/>
              </a:spcAft>
              <a:defRPr sz="1300" b="0">
                <a:solidFill>
                  <a:srgbClr val="FFFFFF"/>
                </a:solidFill>
                <a:latin typeface="Consolas"/>
              </a:defRPr>
            </a:pPr>
            <a:r>
              <a:t>  O ← [], R ← D, node ← T.root</a:t>
            </a:r>
          </a:p>
          <a:p>
            <a:pPr algn="l">
              <a:spcAft>
                <a:spcPts val="300"/>
              </a:spcAft>
              <a:defRPr sz="1300" b="0">
                <a:solidFill>
                  <a:srgbClr val="FFFFFF"/>
                </a:solidFill>
                <a:latin typeface="Consolas"/>
              </a:defRPr>
            </a:pPr>
            <a:r>
              <a:t>  while R ≠ ∅:</a:t>
            </a:r>
          </a:p>
          <a:p>
            <a:pPr algn="l">
              <a:spcAft>
                <a:spcPts val="300"/>
              </a:spcAft>
              <a:defRPr sz="1300" b="0">
                <a:solidFill>
                  <a:srgbClr val="FFFFFF"/>
                </a:solidFill>
                <a:latin typeface="Consolas"/>
              </a:defRPr>
            </a:pPr>
            <a:r>
              <a:t>      for each d in R:</a:t>
            </a:r>
          </a:p>
          <a:p>
            <a:pPr algn="l">
              <a:spcAft>
                <a:spcPts val="300"/>
              </a:spcAft>
              <a:defRPr sz="1300" b="0">
                <a:solidFill>
                  <a:srgbClr val="00FF88"/>
                </a:solidFill>
                <a:latin typeface="Consolas"/>
              </a:defRPr>
            </a:pPr>
            <a:r>
              <a:t>          if node.child(d) is cached:</a:t>
            </a:r>
          </a:p>
          <a:p>
            <a:pPr algn="l">
              <a:spcAft>
                <a:spcPts val="300"/>
              </a:spcAft>
              <a:defRPr sz="1300" b="0">
                <a:solidFill>
                  <a:srgbClr val="00FF88"/>
                </a:solidFill>
                <a:latin typeface="Consolas"/>
              </a:defRPr>
            </a:pPr>
            <a:r>
              <a:t>              append d to O, remove from R</a:t>
            </a:r>
          </a:p>
          <a:p>
            <a:pPr algn="l">
              <a:spcAft>
                <a:spcPts val="300"/>
              </a:spcAft>
              <a:defRPr sz="1300" b="0">
                <a:solidFill>
                  <a:srgbClr val="00FF88"/>
                </a:solidFill>
                <a:latin typeface="Consolas"/>
              </a:defRPr>
            </a:pPr>
            <a:r>
              <a:t>              node ← child; break</a:t>
            </a:r>
          </a:p>
          <a:p>
            <a:pPr algn="l">
              <a:spcAft>
                <a:spcPts val="300"/>
              </a:spcAft>
              <a:defRPr sz="1300" b="0">
                <a:solidFill>
                  <a:srgbClr val="FFFFFF"/>
                </a:solidFill>
                <a:latin typeface="Consolas"/>
              </a:defRPr>
            </a:pPr>
            <a:r>
              <a:t>      if no match found:</a:t>
            </a:r>
          </a:p>
          <a:p>
            <a:pPr algn="l">
              <a:spcAft>
                <a:spcPts val="300"/>
              </a:spcAft>
              <a:defRPr sz="1300" b="0">
                <a:solidFill>
                  <a:srgbClr val="E3B341"/>
                </a:solidFill>
                <a:latin typeface="Consolas"/>
              </a:defRPr>
            </a:pPr>
            <a:r>
              <a:t>          append R in rank order; break</a:t>
            </a:r>
          </a:p>
          <a:p>
            <a:pPr algn="l">
              <a:spcAft>
                <a:spcPts val="600"/>
              </a:spcAft>
              <a:defRPr sz="1300" b="0">
                <a:solidFill>
                  <a:srgbClr val="FFFFFF"/>
                </a:solidFill>
                <a:latin typeface="Consolas"/>
              </a:defRPr>
            </a:pPr>
            <a:r>
              <a:t>  return O</a:t>
            </a:r>
          </a:p>
        </p:txBody>
      </p:sp>
      <p:pic>
        <p:nvPicPr>
          <p:cNvPr id="6" name="Picture 5" descr="image.png"/>
          <p:cNvPicPr>
            <a:picLocks noChangeAspect="1"/>
          </p:cNvPicPr>
          <p:nvPr/>
        </p:nvPicPr>
        <p:blipFill>
          <a:blip r:embed="rId3"/>
          <a:stretch>
            <a:fillRect/>
          </a:stretch>
        </p:blipFill>
        <p:spPr>
          <a:xfrm>
            <a:off x="6400800" y="1828800"/>
            <a:ext cx="5303520" cy="4481785"/>
          </a:xfrm>
          <a:prstGeom prst="rect">
            <a:avLst/>
          </a:prstGeom>
        </p:spPr>
      </p:pic>
      <p:sp>
        <p:nvSpPr>
          <p:cNvPr id="7" name="Rounded Rectangle 6"/>
          <p:cNvSpPr/>
          <p:nvPr/>
        </p:nvSpPr>
        <p:spPr>
          <a:xfrm>
            <a:off x="548640" y="5989320"/>
            <a:ext cx="2560320" cy="6400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FF88"/>
                </a:solidFill>
                <a:latin typeface="Segoe UI"/>
              </a:rPr>
              <a:t>  O(k)  </a:t>
            </a:r>
            <a:r>
              <a:rPr sz="1200">
                <a:solidFill>
                  <a:srgbClr val="8B949E"/>
                </a:solidFill>
                <a:latin typeface="Consolas"/>
              </a:rPr>
              <a:t>Complexity</a:t>
            </a:r>
          </a:p>
        </p:txBody>
      </p:sp>
      <p:sp>
        <p:nvSpPr>
          <p:cNvPr id="8" name="Rounded Rectangle 7"/>
          <p:cNvSpPr/>
          <p:nvPr/>
        </p:nvSpPr>
        <p:spPr>
          <a:xfrm>
            <a:off x="3383280" y="5989320"/>
            <a:ext cx="2560320" cy="6400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FF88"/>
                </a:solidFill>
                <a:latin typeface="Segoe UI"/>
              </a:rPr>
              <a:t>  97.5%  </a:t>
            </a:r>
            <a:r>
              <a:rPr sz="1200">
                <a:solidFill>
                  <a:srgbClr val="8B949E"/>
                </a:solidFill>
                <a:latin typeface="Consolas"/>
              </a:rPr>
              <a:t>Of Oracle</a:t>
            </a:r>
          </a:p>
        </p:txBody>
      </p:sp>
      <p:sp>
        <p:nvSpPr>
          <p:cNvPr id="9" name="Rounded Rectangle 8"/>
          <p:cNvSpPr/>
          <p:nvPr/>
        </p:nvSpPr>
        <p:spPr>
          <a:xfrm>
            <a:off x="6217920" y="5989320"/>
            <a:ext cx="2560320" cy="6400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FF88"/>
                </a:solidFill>
                <a:latin typeface="Segoe UI"/>
              </a:rPr>
              <a:t>  0.997  </a:t>
            </a:r>
            <a:r>
              <a:rPr sz="1200">
                <a:solidFill>
                  <a:srgbClr val="8B949E"/>
                </a:solidFill>
                <a:latin typeface="Consolas"/>
              </a:rPr>
              <a:t>Mean Ratio</a:t>
            </a:r>
          </a:p>
        </p:txBody>
      </p:sp>
      <p:sp>
        <p:nvSpPr>
          <p:cNvPr id="10" name="Rounded Rectangle 9"/>
          <p:cNvSpPr/>
          <p:nvPr/>
        </p:nvSpPr>
        <p:spPr>
          <a:xfrm>
            <a:off x="9052560" y="5989320"/>
            <a:ext cx="2560320" cy="6400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0FF88"/>
                </a:solidFill>
                <a:latin typeface="Segoe UI"/>
              </a:rPr>
              <a:t>  98.5%  </a:t>
            </a:r>
            <a:r>
              <a:rPr sz="1200">
                <a:solidFill>
                  <a:srgbClr val="8B949E"/>
                </a:solidFill>
                <a:latin typeface="Consolas"/>
              </a:rPr>
              <a:t>Optimal</a:t>
            </a:r>
          </a:p>
        </p:txBody>
      </p:sp>
      <p:sp>
        <p:nvSpPr>
          <p:cNvPr id="11" name="TextBox 10"/>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5/16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04  FEEDBACK LOOP</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Cache-State Feedback Loop</a:t>
            </a:r>
          </a:p>
        </p:txBody>
      </p:sp>
      <p:sp>
        <p:nvSpPr>
          <p:cNvPr id="5" name="TextBox 4"/>
          <p:cNvSpPr txBox="1"/>
          <p:nvPr/>
        </p:nvSpPr>
        <p:spPr>
          <a:xfrm>
            <a:off x="548640" y="2011680"/>
            <a:ext cx="5029200" cy="1371600"/>
          </a:xfrm>
          <a:prstGeom prst="rect">
            <a:avLst/>
          </a:prstGeom>
          <a:noFill/>
        </p:spPr>
        <p:txBody>
          <a:bodyPr wrap="square">
            <a:spAutoFit/>
          </a:bodyPr>
          <a:lstStyle/>
          <a:p>
            <a:pPr algn="l">
              <a:spcAft>
                <a:spcPts val="800"/>
              </a:spcAft>
              <a:defRPr sz="2000" b="1">
                <a:solidFill>
                  <a:srgbClr val="FF7B72"/>
                </a:solidFill>
                <a:latin typeface="Segoe UI"/>
              </a:defRPr>
            </a:pPr>
            <a:r>
              <a:t>Challenge</a:t>
            </a:r>
          </a:p>
          <a:p>
            <a:pPr algn="l">
              <a:spcAft>
                <a:spcPts val="600"/>
              </a:spcAft>
              <a:defRPr sz="1600" b="0">
                <a:solidFill>
                  <a:srgbClr val="FFFFFF"/>
                </a:solidFill>
                <a:latin typeface="Segoe UI"/>
              </a:defRPr>
            </a:pPr>
            <a:r>
              <a:t>Trie tracks served sequences, not resident blocks.</a:t>
            </a:r>
            <a:br/>
            <a:r>
              <a:t>Under memory pressure, vLLM may evict blocks</a:t>
            </a:r>
            <a:br/>
            <a:r>
              <a:t>that the trie still considers cached.</a:t>
            </a:r>
          </a:p>
        </p:txBody>
      </p:sp>
      <p:sp>
        <p:nvSpPr>
          <p:cNvPr id="6" name="TextBox 5"/>
          <p:cNvSpPr txBox="1"/>
          <p:nvPr/>
        </p:nvSpPr>
        <p:spPr>
          <a:xfrm>
            <a:off x="548640" y="3566160"/>
            <a:ext cx="5029200" cy="2286000"/>
          </a:xfrm>
          <a:prstGeom prst="rect">
            <a:avLst/>
          </a:prstGeom>
          <a:noFill/>
        </p:spPr>
        <p:txBody>
          <a:bodyPr wrap="square">
            <a:spAutoFit/>
          </a:bodyPr>
          <a:lstStyle/>
          <a:p>
            <a:pPr algn="l">
              <a:spcAft>
                <a:spcPts val="800"/>
              </a:spcAft>
              <a:defRPr sz="2000" b="1">
                <a:solidFill>
                  <a:srgbClr val="00FF88"/>
                </a:solidFill>
                <a:latin typeface="Segoe UI"/>
              </a:defRPr>
            </a:pPr>
            <a:r>
              <a:t>Solution: TTFT-based feedback</a:t>
            </a:r>
          </a:p>
          <a:p>
            <a:pPr algn="l">
              <a:spcAft>
                <a:spcPts val="600"/>
              </a:spcAft>
              <a:defRPr sz="1500" b="0">
                <a:solidFill>
                  <a:srgbClr val="FFFFFF"/>
                </a:solidFill>
                <a:latin typeface="Segoe UI"/>
              </a:defRPr>
            </a:pPr>
            <a:r>
              <a:t>1. Maintain EMA estimate of cold-start TTFT</a:t>
            </a:r>
          </a:p>
          <a:p>
            <a:pPr algn="l">
              <a:spcAft>
                <a:spcPts val="400"/>
              </a:spcAft>
              <a:defRPr sz="1500" b="0">
                <a:solidFill>
                  <a:srgbClr val="FFFFFF"/>
                </a:solidFill>
                <a:latin typeface="Segoe UI"/>
              </a:defRPr>
            </a:pPr>
            <a:r>
              <a:t>2. After each request, compare:</a:t>
            </a:r>
          </a:p>
          <a:p>
            <a:pPr algn="l">
              <a:spcAft>
                <a:spcPts val="400"/>
              </a:spcAft>
              <a:defRPr sz="1400" b="0">
                <a:solidFill>
                  <a:srgbClr val="8B949E"/>
                </a:solidFill>
                <a:latin typeface="Consolas"/>
              </a:defRPr>
            </a:pPr>
            <a:r>
              <a:t>   predicted reuse r̂ = prefix_len / k</a:t>
            </a:r>
          </a:p>
          <a:p>
            <a:pPr algn="l">
              <a:spcAft>
                <a:spcPts val="600"/>
              </a:spcAft>
              <a:defRPr sz="1400" b="0">
                <a:solidFill>
                  <a:srgbClr val="8B949E"/>
                </a:solidFill>
                <a:latin typeface="Consolas"/>
              </a:defRPr>
            </a:pPr>
            <a:r>
              <a:t>   actual reuse r = 1 − T_actual / T_cold</a:t>
            </a:r>
          </a:p>
          <a:p>
            <a:pPr algn="l">
              <a:spcAft>
                <a:spcPts val="400"/>
              </a:spcAft>
              <a:defRPr sz="1500" b="0">
                <a:solidFill>
                  <a:srgbClr val="E3B341"/>
                </a:solidFill>
                <a:latin typeface="Segoe UI"/>
              </a:defRPr>
            </a:pPr>
            <a:r>
              <a:t>3. If r̂ &gt; 0.3 but r &lt; 0.15 → mismatch!</a:t>
            </a:r>
          </a:p>
          <a:p>
            <a:pPr algn="l">
              <a:spcAft>
                <a:spcPts val="600"/>
              </a:spcAft>
              <a:defRPr sz="1500" b="0">
                <a:solidFill>
                  <a:srgbClr val="E3B341"/>
                </a:solidFill>
                <a:latin typeface="Segoe UI"/>
              </a:defRPr>
            </a:pPr>
            <a:r>
              <a:t>4. Mark predicted path as stale → prune trie</a:t>
            </a:r>
          </a:p>
        </p:txBody>
      </p:sp>
      <p:sp>
        <p:nvSpPr>
          <p:cNvPr id="7" name="Rounded Rectangle 6"/>
          <p:cNvSpPr/>
          <p:nvPr/>
        </p:nvSpPr>
        <p:spPr>
          <a:xfrm>
            <a:off x="6035040" y="2011680"/>
            <a:ext cx="5577840" cy="4114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1800"/>
              </a:spcAft>
              <a:defRPr sz="1600" b="1">
                <a:solidFill>
                  <a:srgbClr val="00FF88"/>
                </a:solidFill>
                <a:latin typeface="Consolas"/>
              </a:defRPr>
            </a:pPr>
            <a:r>
              <a:t>  Integrated Pipeline Results</a:t>
            </a:r>
          </a:p>
          <a:p>
            <a:pPr algn="l">
              <a:spcAft>
                <a:spcPts val="200"/>
              </a:spcAft>
              <a:defRPr sz="1200" b="0">
                <a:solidFill>
                  <a:srgbClr val="8B949E"/>
                </a:solidFill>
                <a:latin typeface="Consolas"/>
              </a:defRPr>
            </a:pPr>
            <a:r>
              <a:t>  Prediction accuracy</a:t>
            </a:r>
          </a:p>
          <a:p>
            <a:pPr algn="l">
              <a:spcAft>
                <a:spcPts val="1200"/>
              </a:spcAft>
              <a:defRPr sz="1800" b="1">
                <a:solidFill>
                  <a:srgbClr val="00FF88"/>
                </a:solidFill>
                <a:latin typeface="Segoe UI"/>
              </a:defRPr>
            </a:pPr>
            <a:r>
              <a:t>  99.5%</a:t>
            </a:r>
          </a:p>
          <a:p>
            <a:pPr algn="l">
              <a:spcAft>
                <a:spcPts val="200"/>
              </a:spcAft>
              <a:defRPr sz="1200" b="0">
                <a:solidFill>
                  <a:srgbClr val="8B949E"/>
                </a:solidFill>
                <a:latin typeface="Consolas"/>
              </a:defRPr>
            </a:pPr>
            <a:r>
              <a:t>  Mismatches detected</a:t>
            </a:r>
          </a:p>
          <a:p>
            <a:pPr algn="l">
              <a:spcAft>
                <a:spcPts val="1200"/>
              </a:spcAft>
              <a:defRPr sz="1800" b="1">
                <a:solidFill>
                  <a:srgbClr val="FFFFFF"/>
                </a:solidFill>
                <a:latin typeface="Segoe UI"/>
              </a:defRPr>
            </a:pPr>
            <a:r>
              <a:t>  1 / 200 queries</a:t>
            </a:r>
          </a:p>
          <a:p>
            <a:pPr algn="l">
              <a:spcAft>
                <a:spcPts val="200"/>
              </a:spcAft>
              <a:defRPr sz="1200" b="0">
                <a:solidFill>
                  <a:srgbClr val="8B949E"/>
                </a:solidFill>
                <a:latin typeface="Consolas"/>
              </a:defRPr>
            </a:pPr>
            <a:r>
              <a:t>  Per-request overhead</a:t>
            </a:r>
          </a:p>
          <a:p>
            <a:pPr algn="l">
              <a:spcAft>
                <a:spcPts val="1200"/>
              </a:spcAft>
              <a:defRPr sz="1800" b="1">
                <a:solidFill>
                  <a:srgbClr val="00FF88"/>
                </a:solidFill>
                <a:latin typeface="Segoe UI"/>
              </a:defRPr>
            </a:pPr>
            <a:r>
              <a:t>  0.049 ms</a:t>
            </a:r>
          </a:p>
          <a:p>
            <a:pPr algn="l">
              <a:spcAft>
                <a:spcPts val="200"/>
              </a:spcAft>
              <a:defRPr sz="1200" b="0">
                <a:solidFill>
                  <a:srgbClr val="8B949E"/>
                </a:solidFill>
                <a:latin typeface="Consolas"/>
              </a:defRPr>
            </a:pPr>
            <a:r>
              <a:t>  Overhead fraction</a:t>
            </a:r>
          </a:p>
          <a:p>
            <a:pPr algn="l">
              <a:spcAft>
                <a:spcPts val="1200"/>
              </a:spcAft>
              <a:defRPr sz="1800" b="1">
                <a:solidFill>
                  <a:srgbClr val="FFFFFF"/>
                </a:solidFill>
                <a:latin typeface="Segoe UI"/>
              </a:defRPr>
            </a:pPr>
            <a:r>
              <a:t>  &lt; 0.1% of TTFT</a:t>
            </a:r>
          </a:p>
          <a:p>
            <a:pPr algn="l">
              <a:spcAft>
                <a:spcPts val="200"/>
              </a:spcAft>
              <a:defRPr sz="1200" b="0">
                <a:solidFill>
                  <a:srgbClr val="8B949E"/>
                </a:solidFill>
                <a:latin typeface="Consolas"/>
              </a:defRPr>
            </a:pPr>
            <a:r>
              <a:t>  Trie-reality correlation</a:t>
            </a:r>
          </a:p>
          <a:p>
            <a:pPr algn="l">
              <a:spcAft>
                <a:spcPts val="1200"/>
              </a:spcAft>
              <a:defRPr sz="1800" b="1">
                <a:solidFill>
                  <a:srgbClr val="00FF88"/>
                </a:solidFill>
                <a:latin typeface="Segoe UI"/>
              </a:defRPr>
            </a:pPr>
            <a:r>
              <a:t>  Pearson r = 0.972</a:t>
            </a:r>
          </a:p>
          <a:p>
            <a:pPr algn="l">
              <a:spcAft>
                <a:spcPts val="200"/>
              </a:spcAft>
              <a:defRPr sz="1200" b="0">
                <a:solidFill>
                  <a:srgbClr val="8B949E"/>
                </a:solidFill>
                <a:latin typeface="Consolas"/>
              </a:defRPr>
            </a:pPr>
            <a:r>
              <a:t>  Under memory pressure</a:t>
            </a:r>
          </a:p>
          <a:p>
            <a:pPr algn="l">
              <a:spcAft>
                <a:spcPts val="1200"/>
              </a:spcAft>
              <a:defRPr sz="1800" b="1">
                <a:solidFill>
                  <a:srgbClr val="FFFFFF"/>
                </a:solidFill>
                <a:latin typeface="Segoe UI"/>
              </a:defRPr>
            </a:pPr>
            <a:r>
              <a:t>  r = 0.965 (stable)</a:t>
            </a:r>
          </a:p>
        </p:txBody>
      </p:sp>
      <p:sp>
        <p:nvSpPr>
          <p:cNvPr id="8" name="TextBox 7"/>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6/16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05  ARCHITECTURE</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System Architecture</a:t>
            </a:r>
          </a:p>
        </p:txBody>
      </p:sp>
      <p:sp>
        <p:nvSpPr>
          <p:cNvPr id="5" name="Rounded Rectangle 4"/>
          <p:cNvSpPr/>
          <p:nvPr/>
        </p:nvSpPr>
        <p:spPr>
          <a:xfrm>
            <a:off x="548640" y="1828800"/>
            <a:ext cx="3291840" cy="1463040"/>
          </a:xfrm>
          <a:prstGeom prst="roundRect">
            <a:avLst/>
          </a:prstGeom>
          <a:solidFill>
            <a:srgbClr val="161B22"/>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FF88"/>
                </a:solidFill>
                <a:latin typeface="Segoe UI"/>
              </a:defRPr>
            </a:pPr>
            <a:r>
              <a:t>Knowledge</a:t>
            </a:r>
            <a:br/>
            <a:r>
              <a:t>Tree</a:t>
            </a:r>
          </a:p>
          <a:p>
            <a:pPr algn="ctr">
              <a:defRPr sz="1200">
                <a:solidFill>
                  <a:srgbClr val="8B949E"/>
                </a:solidFill>
                <a:latin typeface="Consolas"/>
              </a:defRPr>
            </a:pPr>
            <a:r>
              <a:t>Trie walk, O(k)</a:t>
            </a:r>
            <a:br/>
            <a:r>
              <a:t>greedy ordering</a:t>
            </a:r>
          </a:p>
        </p:txBody>
      </p:sp>
      <p:sp>
        <p:nvSpPr>
          <p:cNvPr id="6" name="Rounded Rectangle 5"/>
          <p:cNvSpPr/>
          <p:nvPr/>
        </p:nvSpPr>
        <p:spPr>
          <a:xfrm>
            <a:off x="4389120" y="1828800"/>
            <a:ext cx="3291840" cy="1463040"/>
          </a:xfrm>
          <a:prstGeom prst="roundRect">
            <a:avLst/>
          </a:prstGeom>
          <a:solidFill>
            <a:srgbClr val="161B22"/>
          </a:solidFill>
          <a:ln w="254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FF88"/>
                </a:solidFill>
                <a:latin typeface="Segoe UI"/>
              </a:defRPr>
            </a:pPr>
            <a:r>
              <a:t>Prompt</a:t>
            </a:r>
            <a:br/>
            <a:r>
              <a:t>Builder</a:t>
            </a:r>
          </a:p>
          <a:p>
            <a:pPr algn="ctr">
              <a:defRPr sz="1200">
                <a:solidFill>
                  <a:srgbClr val="8B949E"/>
                </a:solidFill>
                <a:latin typeface="Consolas"/>
              </a:defRPr>
            </a:pPr>
            <a:r>
              <a:t>Reorder docs +</a:t>
            </a:r>
            <a:br/>
            <a:r>
              <a:t>construct prompt</a:t>
            </a:r>
          </a:p>
        </p:txBody>
      </p:sp>
      <p:sp>
        <p:nvSpPr>
          <p:cNvPr id="7" name="Rounded Rectangle 6"/>
          <p:cNvSpPr/>
          <p:nvPr/>
        </p:nvSpPr>
        <p:spPr>
          <a:xfrm>
            <a:off x="8229600" y="1828800"/>
            <a:ext cx="3291840" cy="1463040"/>
          </a:xfrm>
          <a:prstGeom prst="roundRect">
            <a:avLst/>
          </a:prstGeom>
          <a:solidFill>
            <a:srgbClr val="161B22"/>
          </a:solidFill>
          <a:ln w="2540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58A6FF"/>
                </a:solidFill>
                <a:latin typeface="Segoe UI"/>
              </a:defRPr>
            </a:pPr>
            <a:r>
              <a:t>vLLM (APC)</a:t>
            </a:r>
          </a:p>
          <a:p>
            <a:pPr algn="ctr">
              <a:defRPr sz="1200">
                <a:solidFill>
                  <a:srgbClr val="8B949E"/>
                </a:solidFill>
                <a:latin typeface="Consolas"/>
              </a:defRPr>
            </a:pPr>
            <a:r>
              <a:t>Prefill + decode</a:t>
            </a:r>
            <a:br/>
            <a:r>
              <a:t>block-level reuse</a:t>
            </a:r>
          </a:p>
        </p:txBody>
      </p:sp>
      <p:sp>
        <p:nvSpPr>
          <p:cNvPr id="8" name="TextBox 7"/>
          <p:cNvSpPr txBox="1"/>
          <p:nvPr/>
        </p:nvSpPr>
        <p:spPr>
          <a:xfrm>
            <a:off x="3840480" y="2286000"/>
            <a:ext cx="548640" cy="457200"/>
          </a:xfrm>
          <a:prstGeom prst="rect">
            <a:avLst/>
          </a:prstGeom>
          <a:noFill/>
        </p:spPr>
        <p:txBody>
          <a:bodyPr wrap="square">
            <a:spAutoFit/>
          </a:bodyPr>
          <a:lstStyle/>
          <a:p>
            <a:pPr algn="ctr">
              <a:spcAft>
                <a:spcPts val="600"/>
              </a:spcAft>
              <a:defRPr sz="2800" b="1">
                <a:solidFill>
                  <a:srgbClr val="00FF88"/>
                </a:solidFill>
                <a:latin typeface="Segoe UI"/>
              </a:defRPr>
            </a:pPr>
            <a:r>
              <a:t>→</a:t>
            </a:r>
          </a:p>
        </p:txBody>
      </p:sp>
      <p:sp>
        <p:nvSpPr>
          <p:cNvPr id="9" name="TextBox 8"/>
          <p:cNvSpPr txBox="1"/>
          <p:nvPr/>
        </p:nvSpPr>
        <p:spPr>
          <a:xfrm>
            <a:off x="7680960" y="2286000"/>
            <a:ext cx="548640" cy="457200"/>
          </a:xfrm>
          <a:prstGeom prst="rect">
            <a:avLst/>
          </a:prstGeom>
          <a:noFill/>
        </p:spPr>
        <p:txBody>
          <a:bodyPr wrap="square">
            <a:spAutoFit/>
          </a:bodyPr>
          <a:lstStyle/>
          <a:p>
            <a:pPr algn="ctr">
              <a:spcAft>
                <a:spcPts val="600"/>
              </a:spcAft>
              <a:defRPr sz="2800" b="1">
                <a:solidFill>
                  <a:srgbClr val="00FF88"/>
                </a:solidFill>
                <a:latin typeface="Segoe UI"/>
              </a:defRPr>
            </a:pPr>
            <a:r>
              <a:t>→</a:t>
            </a:r>
          </a:p>
        </p:txBody>
      </p:sp>
      <p:sp>
        <p:nvSpPr>
          <p:cNvPr id="10" name="Rounded Rectangle 9"/>
          <p:cNvSpPr/>
          <p:nvPr/>
        </p:nvSpPr>
        <p:spPr>
          <a:xfrm>
            <a:off x="548640" y="3657600"/>
            <a:ext cx="11064240" cy="1188720"/>
          </a:xfrm>
          <a:prstGeom prst="roundRect">
            <a:avLst/>
          </a:prstGeom>
          <a:solidFill>
            <a:srgbClr val="161B22"/>
          </a:solidFill>
          <a:ln w="1905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600" b="1">
                <a:solidFill>
                  <a:srgbClr val="00FF88"/>
                </a:solidFill>
                <a:latin typeface="Consolas"/>
              </a:defRPr>
            </a:pPr>
            <a:r>
              <a:t>  ↻  Cache-State Feedback Loop</a:t>
            </a:r>
          </a:p>
          <a:p>
            <a:pPr algn="l">
              <a:spcAft>
                <a:spcPts val="400"/>
              </a:spcAft>
              <a:defRPr sz="1300" b="0">
                <a:solidFill>
                  <a:srgbClr val="FFFFFF"/>
                </a:solidFill>
                <a:latin typeface="Segoe UI"/>
              </a:defRPr>
            </a:pPr>
            <a:r>
              <a:t>  CacheStateFeedback (TTFT-based)  →  detects trie-vs-reality mismatch  →  prunes stale paths  →  keeps trie synced</a:t>
            </a:r>
          </a:p>
          <a:p>
            <a:pPr algn="l">
              <a:spcAft>
                <a:spcPts val="600"/>
              </a:spcAft>
              <a:defRPr sz="1200" b="0">
                <a:solidFill>
                  <a:srgbClr val="8B949E"/>
                </a:solidFill>
                <a:latin typeface="Consolas"/>
              </a:defRPr>
            </a:pPr>
            <a:r>
              <a:t>  99.5% accuracy  •  0.049 ms overhead  •  Pearson r = 0.972</a:t>
            </a:r>
          </a:p>
        </p:txBody>
      </p:sp>
      <p:sp>
        <p:nvSpPr>
          <p:cNvPr id="11" name="Rounded Rectangle 10"/>
          <p:cNvSpPr/>
          <p:nvPr/>
        </p:nvSpPr>
        <p:spPr>
          <a:xfrm>
            <a:off x="548640" y="5120640"/>
            <a:ext cx="3291840" cy="118872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FF88"/>
                </a:solidFill>
                <a:latin typeface="Consolas"/>
              </a:defRPr>
            </a:pPr>
            <a:r>
              <a:t>  VLLMCacheProxy</a:t>
            </a:r>
          </a:p>
          <a:p>
            <a:pPr>
              <a:defRPr sz="1200">
                <a:solidFill>
                  <a:srgbClr val="8B949E"/>
                </a:solidFill>
              </a:defRPr>
            </a:pPr>
            <a:r>
              <a:t>  Integrates all components</a:t>
            </a:r>
            <a:br/>
            <a:r>
              <a:t>into a serving proxy</a:t>
            </a:r>
          </a:p>
        </p:txBody>
      </p:sp>
      <p:sp>
        <p:nvSpPr>
          <p:cNvPr id="12" name="Rounded Rectangle 11"/>
          <p:cNvSpPr/>
          <p:nvPr/>
        </p:nvSpPr>
        <p:spPr>
          <a:xfrm>
            <a:off x="4389120" y="5120640"/>
            <a:ext cx="3291840" cy="118872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FF88"/>
                </a:solidFill>
                <a:latin typeface="Consolas"/>
              </a:defRPr>
            </a:pPr>
            <a:r>
              <a:t>  RAGCacheMiddleware</a:t>
            </a:r>
          </a:p>
          <a:p>
            <a:pPr>
              <a:defRPr sz="1200">
                <a:solidFill>
                  <a:srgbClr val="8B949E"/>
                </a:solidFill>
              </a:defRPr>
            </a:pPr>
            <a:r>
              <a:t>  FastAPI wrapper with</a:t>
            </a:r>
            <a:br/>
            <a:r>
              <a:t>/v1/rag/generate endpoint</a:t>
            </a:r>
          </a:p>
        </p:txBody>
      </p:sp>
      <p:sp>
        <p:nvSpPr>
          <p:cNvPr id="13" name="Rounded Rectangle 12"/>
          <p:cNvSpPr/>
          <p:nvPr/>
        </p:nvSpPr>
        <p:spPr>
          <a:xfrm>
            <a:off x="8229600" y="5120640"/>
            <a:ext cx="3291840" cy="118872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FF88"/>
                </a:solidFill>
                <a:latin typeface="Consolas"/>
              </a:defRPr>
            </a:pPr>
            <a:r>
              <a:t>  Zero Engine Mods</a:t>
            </a:r>
          </a:p>
          <a:p>
            <a:pPr>
              <a:defRPr sz="1200">
                <a:solidFill>
                  <a:srgbClr val="8B949E"/>
                </a:solidFill>
              </a:defRPr>
            </a:pPr>
            <a:r>
              <a:t>  Works with any APC-enabled</a:t>
            </a:r>
            <a:br/>
            <a:r>
              <a:t>serving engine</a:t>
            </a:r>
          </a:p>
        </p:txBody>
      </p:sp>
      <p:sp>
        <p:nvSpPr>
          <p:cNvPr id="14" name="TextBox 13"/>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7/16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06  RESULTS</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Main Results: TTFT Reduction</a:t>
            </a:r>
          </a:p>
        </p:txBody>
      </p:sp>
      <p:sp>
        <p:nvSpPr>
          <p:cNvPr id="5" name="Rounded Rectangle 4"/>
          <p:cNvSpPr/>
          <p:nvPr/>
        </p:nvSpPr>
        <p:spPr>
          <a:xfrm>
            <a:off x="548640" y="1691640"/>
            <a:ext cx="2560320" cy="9144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Segoe UI"/>
              </a:defRPr>
            </a:pPr>
            <a:r>
              <a:t>20–33%</a:t>
            </a:r>
          </a:p>
          <a:p>
            <a:pPr algn="ctr">
              <a:defRPr sz="1100">
                <a:solidFill>
                  <a:srgbClr val="8B949E"/>
                </a:solidFill>
                <a:latin typeface="Consolas"/>
              </a:defRPr>
            </a:pPr>
            <a:r>
              <a:t>TTFT REDUCTION</a:t>
            </a:r>
          </a:p>
        </p:txBody>
      </p:sp>
      <p:sp>
        <p:nvSpPr>
          <p:cNvPr id="6" name="Rounded Rectangle 5"/>
          <p:cNvSpPr/>
          <p:nvPr/>
        </p:nvSpPr>
        <p:spPr>
          <a:xfrm>
            <a:off x="3383280" y="1691640"/>
            <a:ext cx="2560320" cy="9144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Segoe UI"/>
              </a:defRPr>
            </a:pPr>
            <a:r>
              <a:t>66%</a:t>
            </a:r>
          </a:p>
          <a:p>
            <a:pPr algn="ctr">
              <a:defRPr sz="1100">
                <a:solidFill>
                  <a:srgbClr val="8B949E"/>
                </a:solidFill>
                <a:latin typeface="Consolas"/>
              </a:defRPr>
            </a:pPr>
            <a:r>
              <a:t>PREFILL SAVED</a:t>
            </a:r>
          </a:p>
        </p:txBody>
      </p:sp>
      <p:sp>
        <p:nvSpPr>
          <p:cNvPr id="7" name="Rounded Rectangle 6"/>
          <p:cNvSpPr/>
          <p:nvPr/>
        </p:nvSpPr>
        <p:spPr>
          <a:xfrm>
            <a:off x="6217920" y="1691640"/>
            <a:ext cx="2560320" cy="9144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FF88"/>
                </a:solidFill>
                <a:latin typeface="Segoe UI"/>
              </a:defRPr>
            </a:pPr>
            <a:r>
              <a:t>97.5%</a:t>
            </a:r>
          </a:p>
          <a:p>
            <a:pPr algn="ctr">
              <a:defRPr sz="1100">
                <a:solidFill>
                  <a:srgbClr val="8B949E"/>
                </a:solidFill>
                <a:latin typeface="Consolas"/>
              </a:defRPr>
            </a:pPr>
            <a:r>
              <a:t>OF ORACLE</a:t>
            </a:r>
          </a:p>
        </p:txBody>
      </p:sp>
      <p:sp>
        <p:nvSpPr>
          <p:cNvPr id="8" name="Rounded Rectangle 7"/>
          <p:cNvSpPr/>
          <p:nvPr/>
        </p:nvSpPr>
        <p:spPr>
          <a:xfrm>
            <a:off x="9052560" y="1691640"/>
            <a:ext cx="2560320" cy="91440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E3B341"/>
                </a:solidFill>
                <a:latin typeface="Segoe UI"/>
              </a:defRPr>
            </a:pPr>
            <a:r>
              <a:t>&lt;0.13%</a:t>
            </a:r>
          </a:p>
          <a:p>
            <a:pPr algn="ctr">
              <a:defRPr sz="1100">
                <a:solidFill>
                  <a:srgbClr val="8B949E"/>
                </a:solidFill>
                <a:latin typeface="Consolas"/>
              </a:defRPr>
            </a:pPr>
            <a:r>
              <a:t>OVERHEAD</a:t>
            </a:r>
          </a:p>
        </p:txBody>
      </p:sp>
      <p:pic>
        <p:nvPicPr>
          <p:cNvPr id="9" name="Picture 8" descr="ttft_comparison_dark.png"/>
          <p:cNvPicPr>
            <a:picLocks noChangeAspect="1"/>
          </p:cNvPicPr>
          <p:nvPr/>
        </p:nvPicPr>
        <p:blipFill>
          <a:blip r:embed="rId4"/>
          <a:stretch>
            <a:fillRect/>
          </a:stretch>
        </p:blipFill>
        <p:spPr>
          <a:xfrm>
            <a:off x="274320" y="2834640"/>
            <a:ext cx="11612880" cy="4399400"/>
          </a:xfrm>
          <a:prstGeom prst="rect">
            <a:avLst/>
          </a:prstGeom>
        </p:spPr>
      </p:pic>
      <p:sp>
        <p:nvSpPr>
          <p:cNvPr id="10" name="TextBox 9"/>
          <p:cNvSpPr txBox="1"/>
          <p:nvPr/>
        </p:nvSpPr>
        <p:spPr>
          <a:xfrm>
            <a:off x="548640" y="6355080"/>
            <a:ext cx="10972800" cy="274320"/>
          </a:xfrm>
          <a:prstGeom prst="rect">
            <a:avLst/>
          </a:prstGeom>
          <a:noFill/>
        </p:spPr>
        <p:txBody>
          <a:bodyPr wrap="square">
            <a:spAutoFit/>
          </a:bodyPr>
          <a:lstStyle/>
          <a:p>
            <a:pPr algn="l">
              <a:spcAft>
                <a:spcPts val="600"/>
              </a:spcAft>
              <a:defRPr sz="1200" b="0">
                <a:solidFill>
                  <a:srgbClr val="E3B341"/>
                </a:solidFill>
                <a:latin typeface="Consolas"/>
              </a:defRPr>
            </a:pPr>
            <a:r>
              <a:t>Statistically significant: 16.8 ± 1.6 ms improvement (95% CI excludes zero, 3 independent seeds)</a:t>
            </a:r>
          </a:p>
        </p:txBody>
      </p:sp>
      <p:sp>
        <p:nvSpPr>
          <p:cNvPr id="11" name="TextBox 10"/>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8/16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07  KEY FINDING</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Key Finding: Prefix Depth &gt; Hit Count</a:t>
            </a:r>
          </a:p>
        </p:txBody>
      </p:sp>
      <p:sp>
        <p:nvSpPr>
          <p:cNvPr id="5" name="TextBox 4"/>
          <p:cNvSpPr txBox="1"/>
          <p:nvPr/>
        </p:nvSpPr>
        <p:spPr>
          <a:xfrm>
            <a:off x="548640" y="1920240"/>
            <a:ext cx="5029200" cy="3657600"/>
          </a:xfrm>
          <a:prstGeom prst="rect">
            <a:avLst/>
          </a:prstGeom>
          <a:noFill/>
        </p:spPr>
        <p:txBody>
          <a:bodyPr wrap="square">
            <a:spAutoFit/>
          </a:bodyPr>
          <a:lstStyle/>
          <a:p>
            <a:pPr algn="l">
              <a:spcAft>
                <a:spcPts val="1000"/>
              </a:spcAft>
              <a:defRPr sz="1900" b="1">
                <a:solidFill>
                  <a:srgbClr val="E3B341"/>
                </a:solidFill>
                <a:latin typeface="Segoe UI"/>
              </a:defRPr>
            </a:pPr>
            <a:r>
              <a:t>Counterintuitive result:</a:t>
            </a:r>
          </a:p>
          <a:p>
            <a:pPr algn="l">
              <a:spcAft>
                <a:spcPts val="1200"/>
              </a:spcAft>
              <a:defRPr sz="1700" b="1">
                <a:solidFill>
                  <a:srgbClr val="FF7B72"/>
                </a:solidFill>
                <a:latin typeface="Segoe UI"/>
              </a:defRPr>
            </a:pPr>
            <a:r>
              <a:t>Higher hit rate ≠ lower latency</a:t>
            </a:r>
          </a:p>
          <a:p>
            <a:pPr algn="l">
              <a:spcAft>
                <a:spcPts val="400"/>
              </a:spcAft>
              <a:defRPr sz="1500" b="1">
                <a:solidFill>
                  <a:srgbClr val="58A6FF"/>
                </a:solidFill>
                <a:latin typeface="Segoe UI"/>
              </a:defRPr>
            </a:pPr>
            <a:r>
              <a:t>APC+Sorted:</a:t>
            </a:r>
          </a:p>
          <a:p>
            <a:pPr algn="l">
              <a:spcAft>
                <a:spcPts val="300"/>
              </a:spcAft>
              <a:defRPr sz="1400" b="0">
                <a:solidFill>
                  <a:srgbClr val="FFFFFF"/>
                </a:solidFill>
                <a:latin typeface="Segoe UI"/>
              </a:defRPr>
            </a:pPr>
            <a:r>
              <a:t>• Highest hit rate (25.6%)</a:t>
            </a:r>
          </a:p>
          <a:p>
            <a:pPr algn="l">
              <a:spcAft>
                <a:spcPts val="300"/>
              </a:spcAft>
              <a:defRPr sz="1400" b="0">
                <a:solidFill>
                  <a:srgbClr val="FF7B72"/>
                </a:solidFill>
                <a:latin typeface="Segoe UI"/>
              </a:defRPr>
            </a:pPr>
            <a:r>
              <a:t>• But highest TTFT among APC!</a:t>
            </a:r>
          </a:p>
          <a:p>
            <a:pPr algn="l">
              <a:spcAft>
                <a:spcPts val="1000"/>
              </a:spcAft>
              <a:defRPr sz="1300" b="0">
                <a:solidFill>
                  <a:srgbClr val="8B949E"/>
                </a:solidFill>
                <a:latin typeface="Segoe UI"/>
              </a:defRPr>
            </a:pPr>
            <a:r>
              <a:t>• Many short, fragmented matches</a:t>
            </a:r>
          </a:p>
          <a:p>
            <a:pPr algn="l">
              <a:spcAft>
                <a:spcPts val="400"/>
              </a:spcAft>
              <a:defRPr sz="1500" b="1">
                <a:solidFill>
                  <a:srgbClr val="00FF88"/>
                </a:solidFill>
                <a:latin typeface="Segoe UI"/>
              </a:defRPr>
            </a:pPr>
            <a:r>
              <a:t>APC+Optimized (ours):</a:t>
            </a:r>
          </a:p>
          <a:p>
            <a:pPr algn="l">
              <a:spcAft>
                <a:spcPts val="300"/>
              </a:spcAft>
              <a:defRPr sz="1400" b="0">
                <a:solidFill>
                  <a:srgbClr val="FFFFFF"/>
                </a:solidFill>
                <a:latin typeface="Segoe UI"/>
              </a:defRPr>
            </a:pPr>
            <a:r>
              <a:t>• Fewer but LONGER matches</a:t>
            </a:r>
          </a:p>
          <a:p>
            <a:pPr algn="l">
              <a:spcAft>
                <a:spcPts val="300"/>
              </a:spcAft>
              <a:defRPr sz="1400" b="0">
                <a:solidFill>
                  <a:srgbClr val="00FF88"/>
                </a:solidFill>
                <a:latin typeface="Segoe UI"/>
              </a:defRPr>
            </a:pPr>
            <a:r>
              <a:t>• Lowest TTFT (40.1 ms)</a:t>
            </a:r>
          </a:p>
          <a:p>
            <a:pPr algn="l">
              <a:spcAft>
                <a:spcPts val="600"/>
              </a:spcAft>
              <a:defRPr sz="1300" b="0">
                <a:solidFill>
                  <a:srgbClr val="8B949E"/>
                </a:solidFill>
                <a:latin typeface="Segoe UI"/>
              </a:defRPr>
            </a:pPr>
            <a:r>
              <a:t>• Longer prefixes save more</a:t>
            </a:r>
          </a:p>
        </p:txBody>
      </p:sp>
      <p:sp>
        <p:nvSpPr>
          <p:cNvPr id="6" name="Rounded Rectangle 5"/>
          <p:cNvSpPr/>
          <p:nvPr/>
        </p:nvSpPr>
        <p:spPr>
          <a:xfrm>
            <a:off x="548640" y="5760720"/>
            <a:ext cx="5029200" cy="731520"/>
          </a:xfrm>
          <a:prstGeom prst="roundRect">
            <a:avLst/>
          </a:prstGeom>
          <a:solidFill>
            <a:srgbClr val="0D3320"/>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400" b="1">
                <a:solidFill>
                  <a:srgbClr val="00FF88"/>
                </a:solidFill>
                <a:latin typeface="Segoe UI"/>
              </a:defRPr>
            </a:pPr>
            <a:r>
              <a:t>  Takeaway: prefix depth drives latency</a:t>
            </a:r>
            <a:br/>
            <a:r>
              <a:t>  reduction, not hit count.</a:t>
            </a:r>
          </a:p>
        </p:txBody>
      </p:sp>
      <p:pic>
        <p:nvPicPr>
          <p:cNvPr id="7" name="Picture 6" descr="image.png"/>
          <p:cNvPicPr>
            <a:picLocks noChangeAspect="1"/>
          </p:cNvPicPr>
          <p:nvPr/>
        </p:nvPicPr>
        <p:blipFill>
          <a:blip r:embed="rId3"/>
          <a:stretch>
            <a:fillRect/>
          </a:stretch>
        </p:blipFill>
        <p:spPr>
          <a:xfrm>
            <a:off x="5852160" y="1828800"/>
            <a:ext cx="5943600" cy="4831250"/>
          </a:xfrm>
          <a:prstGeom prst="rect">
            <a:avLst/>
          </a:prstGeom>
        </p:spPr>
      </p:pic>
      <p:sp>
        <p:nvSpPr>
          <p:cNvPr id="8" name="TextBox 7"/>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9/16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08  ROBUSTNESS</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Robustness &amp; Generality</a:t>
            </a:r>
          </a:p>
        </p:txBody>
      </p:sp>
      <p:sp>
        <p:nvSpPr>
          <p:cNvPr id="5" name="Rounded Rectangle 4"/>
          <p:cNvSpPr/>
          <p:nvPr/>
        </p:nvSpPr>
        <p:spPr>
          <a:xfrm>
            <a:off x="548640" y="1737360"/>
            <a:ext cx="5029200" cy="123444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600" b="1">
                <a:solidFill>
                  <a:srgbClr val="00FF88"/>
                </a:solidFill>
                <a:latin typeface="Segoe UI"/>
              </a:defRPr>
            </a:pPr>
            <a:r>
              <a:t>  Concurrent Load</a:t>
            </a:r>
          </a:p>
          <a:p>
            <a:pPr>
              <a:defRPr sz="1300">
                <a:solidFill>
                  <a:srgbClr val="FFFFFF"/>
                </a:solidFill>
              </a:defRPr>
            </a:pPr>
            <a:r>
              <a:t>  7–10% improvement at batch 1–8</a:t>
            </a:r>
            <a:br/>
            <a:r>
              <a:t>Benefit persists under GPU sharing</a:t>
            </a:r>
          </a:p>
        </p:txBody>
      </p:sp>
      <p:sp>
        <p:nvSpPr>
          <p:cNvPr id="6" name="Rounded Rectangle 5"/>
          <p:cNvSpPr/>
          <p:nvPr/>
        </p:nvSpPr>
        <p:spPr>
          <a:xfrm>
            <a:off x="548640" y="3246120"/>
            <a:ext cx="5029200" cy="123444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600" b="1">
                <a:solidFill>
                  <a:srgbClr val="00FF88"/>
                </a:solidFill>
                <a:latin typeface="Segoe UI"/>
              </a:defRPr>
            </a:pPr>
            <a:r>
              <a:t>  GPU Memory Levels</a:t>
            </a:r>
          </a:p>
          <a:p>
            <a:pPr>
              <a:defRPr sz="1300">
                <a:solidFill>
                  <a:srgbClr val="FFFFFF"/>
                </a:solidFill>
              </a:defRPr>
            </a:pPr>
            <a:r>
              <a:t>  29–31% stable across gpu_mem 0.78 → 0.90</a:t>
            </a:r>
            <a:br/>
            <a:r>
              <a:t>Also stable at max_model_len = 2048</a:t>
            </a:r>
          </a:p>
        </p:txBody>
      </p:sp>
      <p:sp>
        <p:nvSpPr>
          <p:cNvPr id="7" name="Rounded Rectangle 6"/>
          <p:cNvSpPr/>
          <p:nvPr/>
        </p:nvSpPr>
        <p:spPr>
          <a:xfrm>
            <a:off x="548640" y="4754880"/>
            <a:ext cx="5029200" cy="123444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600" b="1">
                <a:solidFill>
                  <a:srgbClr val="00FF88"/>
                </a:solidFill>
                <a:latin typeface="Segoe UI"/>
              </a:defRPr>
            </a:pPr>
            <a:r>
              <a:t>  Cross-Architecture</a:t>
            </a:r>
          </a:p>
          <a:p>
            <a:pPr>
              <a:defRPr sz="1300">
                <a:solidFill>
                  <a:srgbClr val="FFFFFF"/>
                </a:solidFill>
              </a:defRPr>
            </a:pPr>
            <a:r>
              <a:t>  Qwen2.5: 19% (0.5B) / 20% (1.5B) / 33% (7B)</a:t>
            </a:r>
            <a:br/>
            <a:r>
              <a:t>Phi-3-mini: 18%  — 4 sizes, 2 architectures</a:t>
            </a:r>
          </a:p>
        </p:txBody>
      </p:sp>
      <p:sp>
        <p:nvSpPr>
          <p:cNvPr id="8" name="Rounded Rectangle 7"/>
          <p:cNvSpPr/>
          <p:nvPr/>
        </p:nvSpPr>
        <p:spPr>
          <a:xfrm>
            <a:off x="548640" y="6263640"/>
            <a:ext cx="5029200" cy="4572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100" b="0">
                <a:solidFill>
                  <a:srgbClr val="8B949E"/>
                </a:solidFill>
                <a:latin typeface="Consolas"/>
              </a:defRPr>
            </a:pPr>
            <a:r>
              <a:t>  Top-k sweep: 7.8% (k=3) → 61.2% (k=10)</a:t>
            </a:r>
          </a:p>
        </p:txBody>
      </p:sp>
      <p:pic>
        <p:nvPicPr>
          <p:cNvPr id="9" name="Picture 8" descr="overlap_sensitivity_dark.png"/>
          <p:cNvPicPr>
            <a:picLocks noChangeAspect="1"/>
          </p:cNvPicPr>
          <p:nvPr/>
        </p:nvPicPr>
        <p:blipFill>
          <a:blip r:embed="rId4"/>
          <a:stretch>
            <a:fillRect/>
          </a:stretch>
        </p:blipFill>
        <p:spPr>
          <a:xfrm>
            <a:off x="5943600" y="1737360"/>
            <a:ext cx="5760720" cy="4331534"/>
          </a:xfrm>
          <a:prstGeom prst="rect">
            <a:avLst/>
          </a:prstGeom>
        </p:spPr>
      </p:pic>
      <p:sp>
        <p:nvSpPr>
          <p:cNvPr id="10" name="TextBox 9"/>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10/16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09  QUALITY</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Answer Quality Preservation</a:t>
            </a:r>
          </a:p>
        </p:txBody>
      </p:sp>
      <p:sp>
        <p:nvSpPr>
          <p:cNvPr id="5" name="Rounded Rectangle 4"/>
          <p:cNvSpPr/>
          <p:nvPr/>
        </p:nvSpPr>
        <p:spPr>
          <a:xfrm>
            <a:off x="548640" y="2103120"/>
            <a:ext cx="5212080" cy="20116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1000"/>
              </a:spcAft>
              <a:defRPr sz="1600" b="1">
                <a:solidFill>
                  <a:srgbClr val="00FF88"/>
                </a:solidFill>
                <a:latin typeface="Consolas"/>
              </a:defRPr>
            </a:pPr>
            <a:r>
              <a:t>  Extractive QA (Qwen2.5-7B)</a:t>
            </a:r>
          </a:p>
          <a:p>
            <a:pPr algn="l">
              <a:spcAft>
                <a:spcPts val="800"/>
              </a:spcAft>
              <a:defRPr sz="1300" b="0">
                <a:solidFill>
                  <a:srgbClr val="8B949E"/>
                </a:solidFill>
                <a:latin typeface="Segoe UI"/>
              </a:defRPr>
            </a:pPr>
            <a:r>
              <a:t>  100 questions, strict extractive prompt</a:t>
            </a:r>
          </a:p>
          <a:p>
            <a:pPr algn="l">
              <a:spcAft>
                <a:spcPts val="400"/>
              </a:spcAft>
              <a:defRPr sz="1600" b="0">
                <a:solidFill>
                  <a:srgbClr val="FFFFFF"/>
                </a:solidFill>
                <a:latin typeface="Consolas"/>
              </a:defRPr>
            </a:pPr>
            <a:r>
              <a:t>  Retrieval order:   EM = 1.000</a:t>
            </a:r>
          </a:p>
          <a:p>
            <a:pPr algn="l">
              <a:spcAft>
                <a:spcPts val="800"/>
              </a:spcAft>
              <a:defRPr sz="1600" b="1">
                <a:solidFill>
                  <a:srgbClr val="00FF88"/>
                </a:solidFill>
                <a:latin typeface="Consolas"/>
              </a:defRPr>
            </a:pPr>
            <a:r>
              <a:t>  Optimized order:   EM = 1.000</a:t>
            </a:r>
          </a:p>
          <a:p>
            <a:pPr algn="l">
              <a:spcAft>
                <a:spcPts val="400"/>
              </a:spcAft>
              <a:defRPr sz="1600" b="1">
                <a:solidFill>
                  <a:srgbClr val="00FF88"/>
                </a:solidFill>
                <a:latin typeface="Segoe UI"/>
              </a:defRPr>
            </a:pPr>
            <a:r>
              <a:t>  ΔEM = 0 — Zero degradation</a:t>
            </a:r>
          </a:p>
        </p:txBody>
      </p:sp>
      <p:sp>
        <p:nvSpPr>
          <p:cNvPr id="6" name="Rounded Rectangle 5"/>
          <p:cNvSpPr/>
          <p:nvPr/>
        </p:nvSpPr>
        <p:spPr>
          <a:xfrm>
            <a:off x="6035040" y="2103120"/>
            <a:ext cx="5577840" cy="201168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1000"/>
              </a:spcAft>
              <a:defRPr sz="1600" b="1">
                <a:solidFill>
                  <a:srgbClr val="00FF88"/>
                </a:solidFill>
                <a:latin typeface="Consolas"/>
              </a:defRPr>
            </a:pPr>
            <a:r>
              <a:t>  Multi-hop Reasoning (2-hop QA)</a:t>
            </a:r>
          </a:p>
          <a:p>
            <a:pPr algn="l">
              <a:spcAft>
                <a:spcPts val="800"/>
              </a:spcAft>
              <a:defRPr sz="1300" b="0">
                <a:solidFill>
                  <a:srgbClr val="8B949E"/>
                </a:solidFill>
                <a:latin typeface="Segoe UI"/>
              </a:defRPr>
            </a:pPr>
            <a:r>
              <a:t>  40 two-hop examples, 4 conditions tested</a:t>
            </a:r>
          </a:p>
          <a:p>
            <a:pPr algn="l">
              <a:spcAft>
                <a:spcPts val="400"/>
              </a:spcAft>
              <a:defRPr sz="1300" b="0">
                <a:solidFill>
                  <a:srgbClr val="8B949E"/>
                </a:solidFill>
                <a:latin typeface="Consolas"/>
              </a:defRPr>
            </a:pPr>
            <a:r>
              <a:t>  Evidence    Doc Order   EM     F1</a:t>
            </a:r>
          </a:p>
          <a:p>
            <a:pPr algn="l">
              <a:spcAft>
                <a:spcPts val="400"/>
              </a:spcAft>
              <a:defRPr sz="1300" b="0">
                <a:solidFill>
                  <a:srgbClr val="FFFFFF"/>
                </a:solidFill>
                <a:latin typeface="Consolas"/>
              </a:defRPr>
            </a:pPr>
            <a:r>
              <a:t>  Natural     Retrieval   0.675  0.862</a:t>
            </a:r>
          </a:p>
          <a:p>
            <a:pPr algn="l">
              <a:spcAft>
                <a:spcPts val="400"/>
              </a:spcAft>
              <a:defRPr sz="1300" b="1">
                <a:solidFill>
                  <a:srgbClr val="00FF88"/>
                </a:solidFill>
                <a:latin typeface="Consolas"/>
              </a:defRPr>
            </a:pPr>
            <a:r>
              <a:t>  Natural     Optimized   0.675  0.862</a:t>
            </a:r>
          </a:p>
          <a:p>
            <a:pPr algn="l">
              <a:spcAft>
                <a:spcPts val="400"/>
              </a:spcAft>
              <a:defRPr sz="1300" b="0">
                <a:solidFill>
                  <a:srgbClr val="FFFFFF"/>
                </a:solidFill>
                <a:latin typeface="Consolas"/>
              </a:defRPr>
            </a:pPr>
            <a:r>
              <a:t>  Reversed    Retrieval   0.625  0.826</a:t>
            </a:r>
          </a:p>
          <a:p>
            <a:pPr algn="l">
              <a:spcAft>
                <a:spcPts val="600"/>
              </a:spcAft>
              <a:defRPr sz="1300" b="1">
                <a:solidFill>
                  <a:srgbClr val="00FF88"/>
                </a:solidFill>
                <a:latin typeface="Consolas"/>
              </a:defRPr>
            </a:pPr>
            <a:r>
              <a:t>  Reversed    Optimized   0.625  0.826</a:t>
            </a:r>
          </a:p>
        </p:txBody>
      </p:sp>
      <p:sp>
        <p:nvSpPr>
          <p:cNvPr id="7" name="Rounded Rectangle 6"/>
          <p:cNvSpPr/>
          <p:nvPr/>
        </p:nvSpPr>
        <p:spPr>
          <a:xfrm>
            <a:off x="548640" y="4480560"/>
            <a:ext cx="11064240" cy="2011680"/>
          </a:xfrm>
          <a:prstGeom prst="roundRect">
            <a:avLst/>
          </a:prstGeom>
          <a:solidFill>
            <a:srgbClr val="0D3320"/>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1000"/>
              </a:spcAft>
              <a:defRPr sz="1800" b="1">
                <a:solidFill>
                  <a:srgbClr val="00FF88"/>
                </a:solidFill>
                <a:latin typeface="Segoe UI"/>
              </a:defRPr>
            </a:pPr>
            <a:r>
              <a:t>  Why quality is preserved</a:t>
            </a:r>
          </a:p>
          <a:p>
            <a:pPr algn="l">
              <a:spcAft>
                <a:spcPts val="600"/>
              </a:spcAft>
              <a:defRPr sz="1600" b="0">
                <a:solidFill>
                  <a:srgbClr val="FFFFFF"/>
                </a:solidFill>
                <a:latin typeface="Segoe UI"/>
              </a:defRPr>
            </a:pPr>
            <a:r>
              <a:t>  • Reordering changes only the order of passages, not their content</a:t>
            </a:r>
          </a:p>
          <a:p>
            <a:pPr algn="l">
              <a:spcAft>
                <a:spcPts val="600"/>
              </a:spcAft>
              <a:defRPr sz="1600" b="0">
                <a:solidFill>
                  <a:srgbClr val="FFFFFF"/>
                </a:solidFill>
                <a:latin typeface="Segoe UI"/>
              </a:defRPr>
            </a:pPr>
            <a:r>
              <a:t>  • For extractive QA, passages are interchangeable evidence — order is immaterial</a:t>
            </a:r>
          </a:p>
          <a:p>
            <a:pPr algn="l">
              <a:spcAft>
                <a:spcPts val="600"/>
              </a:spcAft>
              <a:defRPr sz="1600" b="0">
                <a:solidFill>
                  <a:srgbClr val="FFFFFF"/>
                </a:solidFill>
                <a:latin typeface="Segoe UI"/>
              </a:defRPr>
            </a:pPr>
            <a:r>
              <a:t>  • For multi-hop: evidence order matters, but our reordering produces identical quality</a:t>
            </a:r>
          </a:p>
          <a:p>
            <a:pPr algn="l">
              <a:spcAft>
                <a:spcPts val="600"/>
              </a:spcAft>
              <a:defRPr sz="1600" b="1">
                <a:solidFill>
                  <a:srgbClr val="00FF88"/>
                </a:solidFill>
                <a:latin typeface="Segoe UI"/>
              </a:defRPr>
            </a:pPr>
            <a:r>
              <a:t>  • Within each evidence config: ΔEM = 0, ΔF1 = 0 (bit-identical outputs)</a:t>
            </a:r>
          </a:p>
        </p:txBody>
      </p:sp>
      <p:sp>
        <p:nvSpPr>
          <p:cNvPr id="8" name="TextBox 7"/>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11/16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10  WORKLOADS</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Diverse Workload Evaluation</a:t>
            </a:r>
          </a:p>
        </p:txBody>
      </p:sp>
      <p:sp>
        <p:nvSpPr>
          <p:cNvPr id="5" name="Rounded Rectangle 4"/>
          <p:cNvSpPr/>
          <p:nvPr/>
        </p:nvSpPr>
        <p:spPr>
          <a:xfrm>
            <a:off x="548640" y="2103120"/>
            <a:ext cx="2560320" cy="4114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FFFFF"/>
                </a:solidFill>
                <a:latin typeface="Segoe UI"/>
              </a:defRPr>
            </a:pPr>
            <a:r>
              <a:t>  Geospatial</a:t>
            </a:r>
          </a:p>
          <a:p>
            <a:pPr>
              <a:spcAft>
                <a:spcPts val="1200"/>
              </a:spcAft>
              <a:defRPr sz="1200">
                <a:solidFill>
                  <a:srgbClr val="8B949E"/>
                </a:solidFill>
              </a:defRPr>
            </a:pPr>
            <a:r>
              <a:t>  Spatial-RAG inspired</a:t>
            </a:r>
            <a:br/>
            <a:r>
              <a:t>20 cities, natural locality</a:t>
            </a:r>
          </a:p>
          <a:p>
            <a:pPr>
              <a:spcAft>
                <a:spcPts val="1600"/>
              </a:spcAft>
              <a:defRPr sz="1100">
                <a:solidFill>
                  <a:srgbClr val="484F58"/>
                </a:solidFill>
                <a:latin typeface="Consolas"/>
              </a:defRPr>
            </a:pPr>
            <a:r>
              <a:t>  Jaccard = 0.17</a:t>
            </a:r>
          </a:p>
          <a:p>
            <a:pPr algn="ctr">
              <a:defRPr sz="3200" b="1">
                <a:solidFill>
                  <a:srgbClr val="8B949E"/>
                </a:solidFill>
                <a:latin typeface="Segoe UI"/>
              </a:defRPr>
            </a:pPr>
            <a:r>
              <a:t>  +4.5%</a:t>
            </a:r>
          </a:p>
        </p:txBody>
      </p:sp>
      <p:sp>
        <p:nvSpPr>
          <p:cNvPr id="6" name="Rounded Rectangle 5"/>
          <p:cNvSpPr/>
          <p:nvPr/>
        </p:nvSpPr>
        <p:spPr>
          <a:xfrm>
            <a:off x="3383280" y="2103120"/>
            <a:ext cx="2560320" cy="4114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FFFFF"/>
                </a:solidFill>
                <a:latin typeface="Segoe UI"/>
              </a:defRPr>
            </a:pPr>
            <a:r>
              <a:t>  NQ-Open</a:t>
            </a:r>
          </a:p>
          <a:p>
            <a:pPr>
              <a:spcAft>
                <a:spcPts val="1200"/>
              </a:spcAft>
              <a:defRPr sz="1200">
                <a:solidFill>
                  <a:srgbClr val="8B949E"/>
                </a:solidFill>
              </a:defRPr>
            </a:pPr>
            <a:r>
              <a:t>  Real questions from</a:t>
            </a:r>
            <a:br/>
            <a:r>
              <a:t>Natural Questions</a:t>
            </a:r>
          </a:p>
          <a:p>
            <a:pPr>
              <a:spcAft>
                <a:spcPts val="1600"/>
              </a:spcAft>
              <a:defRPr sz="1100">
                <a:solidFill>
                  <a:srgbClr val="484F58"/>
                </a:solidFill>
                <a:latin typeface="Consolas"/>
              </a:defRPr>
            </a:pPr>
            <a:r>
              <a:t>  Jaccard = 0.88</a:t>
            </a:r>
          </a:p>
          <a:p>
            <a:pPr algn="ctr">
              <a:defRPr sz="3200" b="1">
                <a:solidFill>
                  <a:srgbClr val="8B949E"/>
                </a:solidFill>
                <a:latin typeface="Segoe UI"/>
              </a:defRPr>
            </a:pPr>
            <a:r>
              <a:t>  +2.3%</a:t>
            </a:r>
          </a:p>
        </p:txBody>
      </p:sp>
      <p:sp>
        <p:nvSpPr>
          <p:cNvPr id="7" name="Rounded Rectangle 6"/>
          <p:cNvSpPr/>
          <p:nvPr/>
        </p:nvSpPr>
        <p:spPr>
          <a:xfrm>
            <a:off x="6217920" y="2103120"/>
            <a:ext cx="2560320" cy="4114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FFFFF"/>
                </a:solidFill>
                <a:latin typeface="Segoe UI"/>
              </a:defRPr>
            </a:pPr>
            <a:r>
              <a:t>  Mixed-Topic</a:t>
            </a:r>
          </a:p>
          <a:p>
            <a:pPr>
              <a:spcAft>
                <a:spcPts val="1200"/>
              </a:spcAft>
              <a:defRPr sz="1200">
                <a:solidFill>
                  <a:srgbClr val="8B949E"/>
                </a:solidFill>
              </a:defRPr>
            </a:pPr>
            <a:r>
              <a:t>  30% topic-switching</a:t>
            </a:r>
            <a:br/>
            <a:r>
              <a:t>heterogeneous queries</a:t>
            </a:r>
          </a:p>
          <a:p>
            <a:pPr>
              <a:spcAft>
                <a:spcPts val="1600"/>
              </a:spcAft>
              <a:defRPr sz="1100">
                <a:solidFill>
                  <a:srgbClr val="484F58"/>
                </a:solidFill>
                <a:latin typeface="Consolas"/>
              </a:defRPr>
            </a:pPr>
            <a:r>
              <a:t>  Jaccard = 0.31</a:t>
            </a:r>
          </a:p>
          <a:p>
            <a:pPr algn="ctr">
              <a:defRPr sz="3200" b="1">
                <a:solidFill>
                  <a:srgbClr val="00FF88"/>
                </a:solidFill>
                <a:latin typeface="Segoe UI"/>
              </a:defRPr>
            </a:pPr>
            <a:r>
              <a:t>  +16.3%</a:t>
            </a:r>
          </a:p>
        </p:txBody>
      </p:sp>
      <p:sp>
        <p:nvSpPr>
          <p:cNvPr id="8" name="Rounded Rectangle 7"/>
          <p:cNvSpPr/>
          <p:nvPr/>
        </p:nvSpPr>
        <p:spPr>
          <a:xfrm>
            <a:off x="9052560" y="2103120"/>
            <a:ext cx="2560320" cy="4114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FFFFF"/>
                </a:solidFill>
                <a:latin typeface="Segoe UI"/>
              </a:defRPr>
            </a:pPr>
            <a:r>
              <a:t>  Real Corpus</a:t>
            </a:r>
          </a:p>
          <a:p>
            <a:pPr>
              <a:spcAft>
                <a:spcPts val="1200"/>
              </a:spcAft>
              <a:defRPr sz="1200">
                <a:solidFill>
                  <a:srgbClr val="8B949E"/>
                </a:solidFill>
              </a:defRPr>
            </a:pPr>
            <a:r>
              <a:t>  1000 Wikipedia passages</a:t>
            </a:r>
            <a:br/>
            <a:r>
              <a:t>TF-IDF retrieval, 20 topics</a:t>
            </a:r>
          </a:p>
          <a:p>
            <a:pPr>
              <a:spcAft>
                <a:spcPts val="1600"/>
              </a:spcAft>
              <a:defRPr sz="1100">
                <a:solidFill>
                  <a:srgbClr val="484F58"/>
                </a:solidFill>
                <a:latin typeface="Consolas"/>
              </a:defRPr>
            </a:pPr>
            <a:r>
              <a:t>  No controlled</a:t>
            </a:r>
            <a:br/>
            <a:r>
              <a:t>overlap</a:t>
            </a:r>
          </a:p>
          <a:p>
            <a:pPr algn="ctr">
              <a:defRPr sz="3200" b="1">
                <a:solidFill>
                  <a:srgbClr val="00FF88"/>
                </a:solidFill>
                <a:latin typeface="Segoe UI"/>
              </a:defRPr>
            </a:pPr>
            <a:r>
              <a:t>  +10.2%</a:t>
            </a:r>
          </a:p>
        </p:txBody>
      </p:sp>
      <p:sp>
        <p:nvSpPr>
          <p:cNvPr id="9" name="TextBox 8"/>
          <p:cNvSpPr txBox="1"/>
          <p:nvPr/>
        </p:nvSpPr>
        <p:spPr>
          <a:xfrm>
            <a:off x="548640" y="6400800"/>
            <a:ext cx="10972800" cy="365760"/>
          </a:xfrm>
          <a:prstGeom prst="rect">
            <a:avLst/>
          </a:prstGeom>
          <a:noFill/>
        </p:spPr>
        <p:txBody>
          <a:bodyPr wrap="square">
            <a:spAutoFit/>
          </a:bodyPr>
          <a:lstStyle/>
          <a:p>
            <a:pPr algn="l">
              <a:spcAft>
                <a:spcPts val="600"/>
              </a:spcAft>
              <a:defRPr sz="1400" b="0">
                <a:solidFill>
                  <a:srgbClr val="E3B341"/>
                </a:solidFill>
                <a:latin typeface="Segoe UI"/>
              </a:defRPr>
            </a:pPr>
            <a:r>
              <a:t>Ordering benefits scale with moderate overlap (Jaccard ≈ 0.3–0.5) — the regime of real multi-topic RAG deployments</a:t>
            </a:r>
          </a:p>
        </p:txBody>
      </p:sp>
      <p:sp>
        <p:nvSpPr>
          <p:cNvPr id="10" name="TextBox 9"/>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12/16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FF88"/>
                </a:solidFill>
                <a:latin typeface="Consolas"/>
              </a:defRPr>
            </a:pPr>
            <a:r>
              <a:t>11  SYSTEMS</a:t>
            </a:r>
          </a:p>
        </p:txBody>
      </p:sp>
      <p:sp>
        <p:nvSpPr>
          <p:cNvPr id="4" name="TextBox 3"/>
          <p:cNvSpPr txBox="1"/>
          <p:nvPr/>
        </p:nvSpPr>
        <p:spPr>
          <a:xfrm>
            <a:off x="548640" y="1097280"/>
            <a:ext cx="10972800" cy="731520"/>
          </a:xfrm>
          <a:prstGeom prst="rect">
            <a:avLst/>
          </a:prstGeom>
          <a:noFill/>
        </p:spPr>
        <p:txBody>
          <a:bodyPr wrap="square">
            <a:spAutoFit/>
          </a:bodyPr>
          <a:lstStyle/>
          <a:p>
            <a:pPr algn="l">
              <a:spcAft>
                <a:spcPts val="600"/>
              </a:spcAft>
              <a:defRPr sz="3600" b="1">
                <a:solidFill>
                  <a:srgbClr val="FFFFFF"/>
                </a:solidFill>
                <a:latin typeface="Segoe UI"/>
              </a:defRPr>
            </a:pPr>
            <a:r>
              <a:t>Systems Analysis</a:t>
            </a:r>
          </a:p>
        </p:txBody>
      </p:sp>
      <p:sp>
        <p:nvSpPr>
          <p:cNvPr id="5" name="Rounded Rectangle 4"/>
          <p:cNvSpPr/>
          <p:nvPr/>
        </p:nvSpPr>
        <p:spPr>
          <a:xfrm>
            <a:off x="548640" y="2103120"/>
            <a:ext cx="5212080" cy="1828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800" b="1">
                <a:solidFill>
                  <a:srgbClr val="00FF88"/>
                </a:solidFill>
                <a:latin typeface="Segoe UI"/>
              </a:defRPr>
            </a:pPr>
            <a:r>
              <a:t>  Latency Overhead</a:t>
            </a:r>
          </a:p>
          <a:p>
            <a:pPr>
              <a:spcAft>
                <a:spcPts val="300"/>
              </a:spcAft>
              <a:defRPr sz="1300">
                <a:solidFill>
                  <a:srgbClr val="FFFFFF"/>
                </a:solidFill>
                <a:latin typeface="Segoe UI"/>
              </a:defRPr>
            </a:pPr>
            <a:r>
              <a:t>  • Ordering: 22.2 μs</a:t>
            </a:r>
          </a:p>
          <a:p>
            <a:pPr>
              <a:spcAft>
                <a:spcPts val="300"/>
              </a:spcAft>
              <a:defRPr sz="1300">
                <a:solidFill>
                  <a:srgbClr val="FFFFFF"/>
                </a:solidFill>
                <a:latin typeface="Segoe UI"/>
              </a:defRPr>
            </a:pPr>
            <a:r>
              <a:t>  • Prompt build: 44.4 μs</a:t>
            </a:r>
          </a:p>
          <a:p>
            <a:pPr>
              <a:spcAft>
                <a:spcPts val="300"/>
              </a:spcAft>
              <a:defRPr sz="1300">
                <a:solidFill>
                  <a:srgbClr val="FFFFFF"/>
                </a:solidFill>
                <a:latin typeface="Segoe UI"/>
              </a:defRPr>
            </a:pPr>
            <a:r>
              <a:t>  • Total overhead: 66 μs (&lt;0.13%)</a:t>
            </a:r>
          </a:p>
          <a:p>
            <a:pPr>
              <a:spcAft>
                <a:spcPts val="300"/>
              </a:spcAft>
              <a:defRPr sz="1300">
                <a:solidFill>
                  <a:srgbClr val="FFFFFF"/>
                </a:solidFill>
                <a:latin typeface="Segoe UI"/>
              </a:defRPr>
            </a:pPr>
            <a:r>
              <a:t>  • Inference p50: -29% (41.4 vs 58.6 ms)</a:t>
            </a:r>
          </a:p>
        </p:txBody>
      </p:sp>
      <p:sp>
        <p:nvSpPr>
          <p:cNvPr id="6" name="Rounded Rectangle 5"/>
          <p:cNvSpPr/>
          <p:nvPr/>
        </p:nvSpPr>
        <p:spPr>
          <a:xfrm>
            <a:off x="6035040" y="2103120"/>
            <a:ext cx="5212080" cy="1828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800" b="1">
                <a:solidFill>
                  <a:srgbClr val="00FF88"/>
                </a:solidFill>
                <a:latin typeface="Segoe UI"/>
              </a:defRPr>
            </a:pPr>
            <a:r>
              <a:t>  Throughput</a:t>
            </a:r>
          </a:p>
          <a:p>
            <a:pPr>
              <a:spcAft>
                <a:spcPts val="300"/>
              </a:spcAft>
              <a:defRPr sz="1300">
                <a:solidFill>
                  <a:srgbClr val="FFFFFF"/>
                </a:solidFill>
                <a:latin typeface="Segoe UI"/>
              </a:defRPr>
            </a:pPr>
            <a:r>
              <a:t>  • Sequential: 1.19 req/s (identical)</a:t>
            </a:r>
          </a:p>
          <a:p>
            <a:pPr>
              <a:spcAft>
                <a:spcPts val="300"/>
              </a:spcAft>
              <a:defRPr sz="1300">
                <a:solidFill>
                  <a:srgbClr val="FFFFFF"/>
                </a:solidFill>
                <a:latin typeface="Segoe UI"/>
              </a:defRPr>
            </a:pPr>
            <a:r>
              <a:t>  • Batched: 94K tok/s (&lt; 0.4% diff)</a:t>
            </a:r>
          </a:p>
          <a:p>
            <a:pPr>
              <a:spcAft>
                <a:spcPts val="300"/>
              </a:spcAft>
              <a:defRPr sz="1300">
                <a:solidFill>
                  <a:srgbClr val="FFFFFF"/>
                </a:solidFill>
                <a:latin typeface="Segoe UI"/>
              </a:defRPr>
            </a:pPr>
            <a:r>
              <a:t>  • Zero throughput regression</a:t>
            </a:r>
          </a:p>
          <a:p>
            <a:pPr>
              <a:spcAft>
                <a:spcPts val="300"/>
              </a:spcAft>
              <a:defRPr sz="1300">
                <a:solidFill>
                  <a:srgbClr val="FFFFFF"/>
                </a:solidFill>
                <a:latin typeface="Segoe UI"/>
              </a:defRPr>
            </a:pPr>
            <a:r>
              <a:t>  • Decode path unchanged by ordering</a:t>
            </a:r>
          </a:p>
        </p:txBody>
      </p:sp>
      <p:sp>
        <p:nvSpPr>
          <p:cNvPr id="7" name="Rounded Rectangle 6"/>
          <p:cNvSpPr/>
          <p:nvPr/>
        </p:nvSpPr>
        <p:spPr>
          <a:xfrm>
            <a:off x="548640" y="4297680"/>
            <a:ext cx="5212080" cy="1828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800" b="1">
                <a:solidFill>
                  <a:srgbClr val="00FF88"/>
                </a:solidFill>
                <a:latin typeface="Segoe UI"/>
              </a:defRPr>
            </a:pPr>
            <a:r>
              <a:t>  GPU Memory</a:t>
            </a:r>
          </a:p>
          <a:p>
            <a:pPr>
              <a:spcAft>
                <a:spcPts val="300"/>
              </a:spcAft>
              <a:defRPr sz="1300">
                <a:solidFill>
                  <a:srgbClr val="FFFFFF"/>
                </a:solidFill>
                <a:latin typeface="Segoe UI"/>
              </a:defRPr>
            </a:pPr>
            <a:r>
              <a:t>  • Peak memory: 21,751 MB (identical)</a:t>
            </a:r>
          </a:p>
          <a:p>
            <a:pPr>
              <a:spcAft>
                <a:spcPts val="300"/>
              </a:spcAft>
              <a:defRPr sz="1300">
                <a:solidFill>
                  <a:srgbClr val="FFFFFF"/>
                </a:solidFill>
                <a:latin typeface="Segoe UI"/>
              </a:defRPr>
            </a:pPr>
            <a:r>
              <a:t>  • vLLM pre-allocates fixed pool</a:t>
            </a:r>
          </a:p>
          <a:p>
            <a:pPr>
              <a:spcAft>
                <a:spcPts val="300"/>
              </a:spcAft>
              <a:defRPr sz="1300">
                <a:solidFill>
                  <a:srgbClr val="FFFFFF"/>
                </a:solidFill>
                <a:latin typeface="Segoe UI"/>
              </a:defRPr>
            </a:pPr>
            <a:r>
              <a:t>  • Ordering changes block reuse,</a:t>
            </a:r>
          </a:p>
          <a:p>
            <a:pPr>
              <a:spcAft>
                <a:spcPts val="300"/>
              </a:spcAft>
              <a:defRPr sz="1300">
                <a:solidFill>
                  <a:srgbClr val="FFFFFF"/>
                </a:solidFill>
                <a:latin typeface="Segoe UI"/>
              </a:defRPr>
            </a:pPr>
            <a:r>
              <a:t>  • not pool size. Trie: &lt; 1 MB host mem</a:t>
            </a:r>
          </a:p>
        </p:txBody>
      </p:sp>
      <p:sp>
        <p:nvSpPr>
          <p:cNvPr id="8" name="Rounded Rectangle 7"/>
          <p:cNvSpPr/>
          <p:nvPr/>
        </p:nvSpPr>
        <p:spPr>
          <a:xfrm>
            <a:off x="6035040" y="4297680"/>
            <a:ext cx="5212080" cy="1828800"/>
          </a:xfrm>
          <a:prstGeom prst="round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800" b="1">
                <a:solidFill>
                  <a:srgbClr val="00FF88"/>
                </a:solidFill>
                <a:latin typeface="Segoe UI"/>
              </a:defRPr>
            </a:pPr>
            <a:r>
              <a:t>  Pipelining</a:t>
            </a:r>
          </a:p>
          <a:p>
            <a:pPr>
              <a:spcAft>
                <a:spcPts val="300"/>
              </a:spcAft>
              <a:defRPr sz="1300">
                <a:solidFill>
                  <a:srgbClr val="FFFFFF"/>
                </a:solidFill>
                <a:latin typeface="Segoe UI"/>
              </a:defRPr>
            </a:pPr>
            <a:r>
              <a:t>  • System prompt warmup || retrieval</a:t>
            </a:r>
          </a:p>
          <a:p>
            <a:pPr>
              <a:spcAft>
                <a:spcPts val="300"/>
              </a:spcAft>
              <a:defRPr sz="1300">
                <a:solidFill>
                  <a:srgbClr val="FFFFFF"/>
                </a:solidFill>
                <a:latin typeface="Segoe UI"/>
              </a:defRPr>
            </a:pPr>
            <a:r>
              <a:t>  • T_ret=50ms: 106.8→78.8 ms (26%↓)</a:t>
            </a:r>
          </a:p>
          <a:p>
            <a:pPr>
              <a:spcAft>
                <a:spcPts val="300"/>
              </a:spcAft>
              <a:defRPr sz="1300">
                <a:solidFill>
                  <a:srgbClr val="FFFFFF"/>
                </a:solidFill>
                <a:latin typeface="Segoe UI"/>
              </a:defRPr>
            </a:pPr>
            <a:r>
              <a:t>  • Benefits cold starts &amp; eviction recovery</a:t>
            </a:r>
          </a:p>
          <a:p>
            <a:pPr>
              <a:spcAft>
                <a:spcPts val="300"/>
              </a:spcAft>
              <a:defRPr sz="1300">
                <a:solidFill>
                  <a:srgbClr val="FFFFFF"/>
                </a:solidFill>
                <a:latin typeface="Segoe UI"/>
              </a:defRPr>
            </a:pPr>
            <a:r>
              <a:t>  • Only concurrent.futures — no mods</a:t>
            </a:r>
          </a:p>
        </p:txBody>
      </p:sp>
      <p:sp>
        <p:nvSpPr>
          <p:cNvPr id="9" name="TextBox 8"/>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13/16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57200"/>
            <a:ext cx="2560320" cy="347472"/>
          </a:xfrm>
          <a:prstGeom prst="roundRect">
            <a:avLst/>
          </a:prstGeom>
          <a:no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00FF88"/>
                </a:solidFill>
                <a:latin typeface="Consolas"/>
              </a:defRPr>
            </a:pPr>
            <a:r>
              <a:t>12  RELATED WORK</a:t>
            </a:r>
          </a:p>
        </p:txBody>
      </p:sp>
      <p:sp>
        <p:nvSpPr>
          <p:cNvPr id="4" name="TextBox 3"/>
          <p:cNvSpPr txBox="1"/>
          <p:nvPr/>
        </p:nvSpPr>
        <p:spPr>
          <a:xfrm>
            <a:off x="548640" y="1005840"/>
            <a:ext cx="10972800" cy="457200"/>
          </a:xfrm>
          <a:prstGeom prst="rect">
            <a:avLst/>
          </a:prstGeom>
          <a:noFill/>
        </p:spPr>
        <p:txBody>
          <a:bodyPr wrap="square">
            <a:spAutoFit/>
          </a:bodyPr>
          <a:lstStyle/>
          <a:p>
            <a:pPr algn="l">
              <a:spcAft>
                <a:spcPts val="600"/>
              </a:spcAft>
              <a:defRPr sz="3400" b="1">
                <a:solidFill>
                  <a:srgbClr val="FFFFFF"/>
                </a:solidFill>
                <a:latin typeface="Segoe UI"/>
              </a:defRPr>
            </a:pPr>
            <a:r>
              <a:t>Related Work &amp; Positioning</a:t>
            </a:r>
          </a:p>
        </p:txBody>
      </p:sp>
      <p:sp>
        <p:nvSpPr>
          <p:cNvPr id="5" name="Rounded Rectangle 4"/>
          <p:cNvSpPr/>
          <p:nvPr/>
        </p:nvSpPr>
        <p:spPr>
          <a:xfrm>
            <a:off x="548640" y="1737360"/>
            <a:ext cx="2011680" cy="685800"/>
          </a:xfrm>
          <a:prstGeom prst="round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8A6FF"/>
                </a:solidFill>
                <a:latin typeface="Segoe UI"/>
              </a:defRPr>
            </a:pPr>
            <a:r>
              <a:t>RAGCache</a:t>
            </a:r>
          </a:p>
        </p:txBody>
      </p:sp>
      <p:sp>
        <p:nvSpPr>
          <p:cNvPr id="6" name="TextBox 5"/>
          <p:cNvSpPr txBox="1"/>
          <p:nvPr/>
        </p:nvSpPr>
        <p:spPr>
          <a:xfrm>
            <a:off x="2834640" y="1737360"/>
            <a:ext cx="4114800" cy="685800"/>
          </a:xfrm>
          <a:prstGeom prst="rect">
            <a:avLst/>
          </a:prstGeom>
          <a:noFill/>
        </p:spPr>
        <p:txBody>
          <a:bodyPr wrap="square">
            <a:spAutoFit/>
          </a:bodyPr>
          <a:lstStyle/>
          <a:p>
            <a:pPr algn="l">
              <a:spcAft>
                <a:spcPts val="600"/>
              </a:spcAft>
              <a:defRPr sz="1300" b="0">
                <a:solidFill>
                  <a:srgbClr val="8B949E"/>
                </a:solidFill>
                <a:latin typeface="Segoe UI"/>
              </a:defRPr>
            </a:pPr>
            <a:r>
              <a:t>Engine-level KV management,</a:t>
            </a:r>
            <a:br/>
            <a:r>
              <a:t>modified serving engine</a:t>
            </a:r>
          </a:p>
        </p:txBody>
      </p:sp>
      <p:sp>
        <p:nvSpPr>
          <p:cNvPr id="7" name="TextBox 6"/>
          <p:cNvSpPr txBox="1"/>
          <p:nvPr/>
        </p:nvSpPr>
        <p:spPr>
          <a:xfrm>
            <a:off x="7132320" y="1737360"/>
            <a:ext cx="4572000" cy="685800"/>
          </a:xfrm>
          <a:prstGeom prst="rect">
            <a:avLst/>
          </a:prstGeom>
          <a:noFill/>
        </p:spPr>
        <p:txBody>
          <a:bodyPr wrap="square">
            <a:spAutoFit/>
          </a:bodyPr>
          <a:lstStyle/>
          <a:p>
            <a:pPr algn="l">
              <a:spcAft>
                <a:spcPts val="600"/>
              </a:spcAft>
              <a:defRPr sz="1300" b="0">
                <a:solidFill>
                  <a:srgbClr val="FFFFFF"/>
                </a:solidFill>
                <a:latin typeface="Segoe UI"/>
              </a:defRPr>
            </a:pPr>
            <a:r>
              <a:t>Our scheduling matches its</a:t>
            </a:r>
            <a:br/>
            <a:r>
              <a:t>benefits without engine mods</a:t>
            </a:r>
          </a:p>
        </p:txBody>
      </p:sp>
      <p:sp>
        <p:nvSpPr>
          <p:cNvPr id="8" name="Rounded Rectangle 7"/>
          <p:cNvSpPr/>
          <p:nvPr/>
        </p:nvSpPr>
        <p:spPr>
          <a:xfrm>
            <a:off x="548640" y="2651760"/>
            <a:ext cx="2011680" cy="685800"/>
          </a:xfrm>
          <a:prstGeom prst="round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8A6FF"/>
                </a:solidFill>
                <a:latin typeface="Segoe UI"/>
              </a:defRPr>
            </a:pPr>
            <a:r>
              <a:t>ContextPilot</a:t>
            </a:r>
          </a:p>
        </p:txBody>
      </p:sp>
      <p:sp>
        <p:nvSpPr>
          <p:cNvPr id="9" name="TextBox 8"/>
          <p:cNvSpPr txBox="1"/>
          <p:nvPr/>
        </p:nvSpPr>
        <p:spPr>
          <a:xfrm>
            <a:off x="2834640" y="2651760"/>
            <a:ext cx="4114800" cy="685800"/>
          </a:xfrm>
          <a:prstGeom prst="rect">
            <a:avLst/>
          </a:prstGeom>
          <a:noFill/>
        </p:spPr>
        <p:txBody>
          <a:bodyPr wrap="square">
            <a:spAutoFit/>
          </a:bodyPr>
          <a:lstStyle/>
          <a:p>
            <a:pPr algn="l">
              <a:spcAft>
                <a:spcPts val="600"/>
              </a:spcAft>
              <a:defRPr sz="1300" b="0">
                <a:solidFill>
                  <a:srgbClr val="8B949E"/>
                </a:solidFill>
                <a:latin typeface="Segoe UI"/>
              </a:defRPr>
            </a:pPr>
            <a:r>
              <a:t>Concurrent, similar</a:t>
            </a:r>
            <a:br/>
            <a:r>
              <a:t>prompt-layer approach</a:t>
            </a:r>
          </a:p>
        </p:txBody>
      </p:sp>
      <p:sp>
        <p:nvSpPr>
          <p:cNvPr id="10" name="TextBox 9"/>
          <p:cNvSpPr txBox="1"/>
          <p:nvPr/>
        </p:nvSpPr>
        <p:spPr>
          <a:xfrm>
            <a:off x="7132320" y="2651760"/>
            <a:ext cx="4572000" cy="685800"/>
          </a:xfrm>
          <a:prstGeom prst="rect">
            <a:avLst/>
          </a:prstGeom>
          <a:noFill/>
        </p:spPr>
        <p:txBody>
          <a:bodyPr wrap="square">
            <a:spAutoFit/>
          </a:bodyPr>
          <a:lstStyle/>
          <a:p>
            <a:pPr algn="l">
              <a:spcAft>
                <a:spcPts val="600"/>
              </a:spcAft>
              <a:defRPr sz="1300" b="0">
                <a:solidFill>
                  <a:srgbClr val="FFFFFF"/>
                </a:solidFill>
                <a:latin typeface="Segoe UI"/>
              </a:defRPr>
            </a:pPr>
            <a:r>
              <a:t>Validates cache-aware ordering</a:t>
            </a:r>
            <a:br/>
            <a:r>
              <a:t>as a systems abstraction</a:t>
            </a:r>
          </a:p>
        </p:txBody>
      </p:sp>
      <p:sp>
        <p:nvSpPr>
          <p:cNvPr id="11" name="Rounded Rectangle 10"/>
          <p:cNvSpPr/>
          <p:nvPr/>
        </p:nvSpPr>
        <p:spPr>
          <a:xfrm>
            <a:off x="548640" y="3566160"/>
            <a:ext cx="2011680" cy="685800"/>
          </a:xfrm>
          <a:prstGeom prst="roundRect">
            <a:avLst/>
          </a:prstGeom>
          <a:solidFill>
            <a:srgbClr val="161B22"/>
          </a:solidFill>
          <a:ln w="19050">
            <a:solidFill>
              <a:srgbClr val="8B949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8B949E"/>
                </a:solidFill>
                <a:latin typeface="Segoe UI"/>
              </a:defRPr>
            </a:pPr>
            <a:r>
              <a:t>CacheBlend</a:t>
            </a:r>
          </a:p>
        </p:txBody>
      </p:sp>
      <p:sp>
        <p:nvSpPr>
          <p:cNvPr id="12" name="TextBox 11"/>
          <p:cNvSpPr txBox="1"/>
          <p:nvPr/>
        </p:nvSpPr>
        <p:spPr>
          <a:xfrm>
            <a:off x="2834640" y="3566160"/>
            <a:ext cx="4114800" cy="685800"/>
          </a:xfrm>
          <a:prstGeom prst="rect">
            <a:avLst/>
          </a:prstGeom>
          <a:noFill/>
        </p:spPr>
        <p:txBody>
          <a:bodyPr wrap="square">
            <a:spAutoFit/>
          </a:bodyPr>
          <a:lstStyle/>
          <a:p>
            <a:pPr algn="l">
              <a:spcAft>
                <a:spcPts val="600"/>
              </a:spcAft>
              <a:defRPr sz="1300" b="0">
                <a:solidFill>
                  <a:srgbClr val="8B949E"/>
                </a:solidFill>
                <a:latin typeface="Segoe UI"/>
              </a:defRPr>
            </a:pPr>
            <a:r>
              <a:t>Position-independent KV reuse</a:t>
            </a:r>
            <a:br/>
            <a:r>
              <a:t>via selective recomputation</a:t>
            </a:r>
          </a:p>
        </p:txBody>
      </p:sp>
      <p:sp>
        <p:nvSpPr>
          <p:cNvPr id="13" name="TextBox 12"/>
          <p:cNvSpPr txBox="1"/>
          <p:nvPr/>
        </p:nvSpPr>
        <p:spPr>
          <a:xfrm>
            <a:off x="7132320" y="3566160"/>
            <a:ext cx="4572000" cy="685800"/>
          </a:xfrm>
          <a:prstGeom prst="rect">
            <a:avLst/>
          </a:prstGeom>
          <a:noFill/>
        </p:spPr>
        <p:txBody>
          <a:bodyPr wrap="square">
            <a:spAutoFit/>
          </a:bodyPr>
          <a:lstStyle/>
          <a:p>
            <a:pPr algn="l">
              <a:spcAft>
                <a:spcPts val="600"/>
              </a:spcAft>
              <a:defRPr sz="1300" b="0">
                <a:solidFill>
                  <a:srgbClr val="FFFFFF"/>
                </a:solidFill>
                <a:latin typeface="Segoe UI"/>
              </a:defRPr>
            </a:pPr>
            <a:r>
              <a:t>Complementary: handles the</a:t>
            </a:r>
            <a:br/>
            <a:r>
              <a:t>non-prefix portion</a:t>
            </a:r>
          </a:p>
        </p:txBody>
      </p:sp>
      <p:sp>
        <p:nvSpPr>
          <p:cNvPr id="14" name="Rounded Rectangle 13"/>
          <p:cNvSpPr/>
          <p:nvPr/>
        </p:nvSpPr>
        <p:spPr>
          <a:xfrm>
            <a:off x="548640" y="4480560"/>
            <a:ext cx="2011680" cy="685800"/>
          </a:xfrm>
          <a:prstGeom prst="roundRect">
            <a:avLst/>
          </a:prstGeom>
          <a:solidFill>
            <a:srgbClr val="161B22"/>
          </a:solidFill>
          <a:ln w="19050">
            <a:solidFill>
              <a:srgbClr val="8B949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8B949E"/>
                </a:solidFill>
                <a:latin typeface="Segoe UI"/>
              </a:defRPr>
            </a:pPr>
            <a:r>
              <a:t>TurboRAG</a:t>
            </a:r>
          </a:p>
        </p:txBody>
      </p:sp>
      <p:sp>
        <p:nvSpPr>
          <p:cNvPr id="15" name="TextBox 14"/>
          <p:cNvSpPr txBox="1"/>
          <p:nvPr/>
        </p:nvSpPr>
        <p:spPr>
          <a:xfrm>
            <a:off x="2834640" y="4480560"/>
            <a:ext cx="4114800" cy="685800"/>
          </a:xfrm>
          <a:prstGeom prst="rect">
            <a:avLst/>
          </a:prstGeom>
          <a:noFill/>
        </p:spPr>
        <p:txBody>
          <a:bodyPr wrap="square">
            <a:spAutoFit/>
          </a:bodyPr>
          <a:lstStyle/>
          <a:p>
            <a:pPr algn="l">
              <a:spcAft>
                <a:spcPts val="600"/>
              </a:spcAft>
              <a:defRPr sz="1300" b="0">
                <a:solidFill>
                  <a:srgbClr val="8B949E"/>
                </a:solidFill>
                <a:latin typeface="Segoe UI"/>
              </a:defRPr>
            </a:pPr>
            <a:r>
              <a:t>Pre-computed chunk KV caches,</a:t>
            </a:r>
            <a:br/>
            <a:r>
              <a:t>reordered-RoPE stitching</a:t>
            </a:r>
          </a:p>
        </p:txBody>
      </p:sp>
      <p:sp>
        <p:nvSpPr>
          <p:cNvPr id="16" name="TextBox 15"/>
          <p:cNvSpPr txBox="1"/>
          <p:nvPr/>
        </p:nvSpPr>
        <p:spPr>
          <a:xfrm>
            <a:off x="7132320" y="4480560"/>
            <a:ext cx="4572000" cy="685800"/>
          </a:xfrm>
          <a:prstGeom prst="rect">
            <a:avLst/>
          </a:prstGeom>
          <a:noFill/>
        </p:spPr>
        <p:txBody>
          <a:bodyPr wrap="square">
            <a:spAutoFit/>
          </a:bodyPr>
          <a:lstStyle/>
          <a:p>
            <a:pPr algn="l">
              <a:spcAft>
                <a:spcPts val="600"/>
              </a:spcAft>
              <a:defRPr sz="1300" b="0">
                <a:solidFill>
                  <a:srgbClr val="FFFFFF"/>
                </a:solidFill>
                <a:latin typeface="Segoe UI"/>
              </a:defRPr>
            </a:pPr>
            <a:r>
              <a:t>Complementary: relaxes prefix</a:t>
            </a:r>
            <a:br/>
            <a:r>
              <a:t>constraint at attention level</a:t>
            </a:r>
          </a:p>
        </p:txBody>
      </p:sp>
      <p:sp>
        <p:nvSpPr>
          <p:cNvPr id="17" name="Rounded Rectangle 16"/>
          <p:cNvSpPr/>
          <p:nvPr/>
        </p:nvSpPr>
        <p:spPr>
          <a:xfrm>
            <a:off x="548640" y="5577840"/>
            <a:ext cx="11064240" cy="822960"/>
          </a:xfrm>
          <a:prstGeom prst="roundRect">
            <a:avLst/>
          </a:prstGeom>
          <a:solidFill>
            <a:srgbClr val="0D3320"/>
          </a:solidFill>
          <a:ln w="12700">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00"/>
              </a:spcAft>
              <a:defRPr sz="1500" b="1">
                <a:solidFill>
                  <a:srgbClr val="00FF88"/>
                </a:solidFill>
                <a:latin typeface="Segoe UI"/>
              </a:defRPr>
            </a:pPr>
            <a:r>
              <a:t>  Our Contribution: Deployment-ready realization</a:t>
            </a:r>
          </a:p>
          <a:p>
            <a:pPr algn="l">
              <a:spcAft>
                <a:spcPts val="600"/>
              </a:spcAft>
              <a:defRPr sz="1300" b="0">
                <a:solidFill>
                  <a:srgbClr val="FFFFFF"/>
                </a:solidFill>
                <a:latin typeface="Segoe UI"/>
              </a:defRPr>
            </a:pPr>
            <a:r>
              <a:t>  Engine-agnostic  •  Formally near-optimal (97.5%)  •  Closed-loop feedback  •  Cross-workload/architecture evaluation</a:t>
            </a:r>
          </a:p>
        </p:txBody>
      </p:sp>
      <p:sp>
        <p:nvSpPr>
          <p:cNvPr id="18" name="TextBox 17"/>
          <p:cNvSpPr txBox="1"/>
          <p:nvPr/>
        </p:nvSpPr>
        <p:spPr>
          <a:xfrm>
            <a:off x="11338560" y="6446520"/>
            <a:ext cx="822960" cy="320040"/>
          </a:xfrm>
          <a:prstGeom prst="rect">
            <a:avLst/>
          </a:prstGeom>
          <a:noFill/>
        </p:spPr>
        <p:txBody>
          <a:bodyPr wrap="none">
            <a:spAutoFit/>
          </a:bodyPr>
          <a:lstStyle/>
          <a:p>
            <a:pPr algn="r">
              <a:defRPr sz="1000">
                <a:solidFill>
                  <a:srgbClr val="484F58"/>
                </a:solidFill>
                <a:latin typeface="Consolas"/>
              </a:defRPr>
            </a:pPr>
            <a:r>
              <a:t>14/16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cxnSp>
        <p:nvCxnSpPr>
          <p:cNvPr id="2" name="Connector 1"/>
          <p:cNvCxnSpPr/>
          <p:nvPr/>
        </p:nvCxnSpPr>
        <p:spPr>
          <a:xfrm>
            <a:off x="274320" y="274320"/>
            <a:ext cx="1097280" cy="0"/>
          </a:xfrm>
          <a:prstGeom prst="line">
            <a:avLst/>
          </a:prstGeom>
          <a:ln w="12700">
            <a:solidFill>
              <a:srgbClr val="00FF88"/>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1371600" y="21945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0515600" y="6492240"/>
            <a:ext cx="1371600" cy="0"/>
          </a:xfrm>
          <a:prstGeom prst="line">
            <a:avLst/>
          </a:prstGeom>
          <a:ln w="12700">
            <a:solidFill>
              <a:srgbClr val="00FF88"/>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405872" y="643737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48640"/>
            <a:ext cx="10972800" cy="731520"/>
          </a:xfrm>
          <a:prstGeom prst="rect">
            <a:avLst/>
          </a:prstGeom>
          <a:noFill/>
        </p:spPr>
        <p:txBody>
          <a:bodyPr wrap="square">
            <a:spAutoFit/>
          </a:bodyPr>
          <a:lstStyle/>
          <a:p>
            <a:pPr algn="l">
              <a:spcAft>
                <a:spcPts val="600"/>
              </a:spcAft>
              <a:defRPr sz="4000" b="1">
                <a:solidFill>
                  <a:srgbClr val="FFFFFF"/>
                </a:solidFill>
                <a:latin typeface="Segoe UI"/>
              </a:defRPr>
            </a:pPr>
            <a:r>
              <a:t>Conclusion</a:t>
            </a:r>
          </a:p>
        </p:txBody>
      </p:sp>
      <p:sp>
        <p:nvSpPr>
          <p:cNvPr id="7" name="TextBox 6"/>
          <p:cNvSpPr txBox="1"/>
          <p:nvPr/>
        </p:nvSpPr>
        <p:spPr>
          <a:xfrm>
            <a:off x="548640" y="1463040"/>
            <a:ext cx="10972800" cy="457200"/>
          </a:xfrm>
          <a:prstGeom prst="rect">
            <a:avLst/>
          </a:prstGeom>
          <a:noFill/>
        </p:spPr>
        <p:txBody>
          <a:bodyPr wrap="square">
            <a:spAutoFit/>
          </a:bodyPr>
          <a:lstStyle/>
          <a:p>
            <a:pPr algn="l">
              <a:spcAft>
                <a:spcPts val="600"/>
              </a:spcAft>
              <a:defRPr sz="1800" b="0">
                <a:solidFill>
                  <a:srgbClr val="00FF88"/>
                </a:solidFill>
                <a:latin typeface="Segoe UI"/>
              </a:defRPr>
            </a:pPr>
            <a:r>
              <a:t>RAGCache++: prompt-layer scheduling for APC-based RAG serving</a:t>
            </a:r>
          </a:p>
        </p:txBody>
      </p:sp>
      <p:sp>
        <p:nvSpPr>
          <p:cNvPr id="8" name="TextBox 7"/>
          <p:cNvSpPr txBox="1"/>
          <p:nvPr/>
        </p:nvSpPr>
        <p:spPr>
          <a:xfrm>
            <a:off x="548640" y="2286000"/>
            <a:ext cx="6400800" cy="3200400"/>
          </a:xfrm>
          <a:prstGeom prst="rect">
            <a:avLst/>
          </a:prstGeom>
          <a:noFill/>
        </p:spPr>
        <p:txBody>
          <a:bodyPr wrap="square">
            <a:spAutoFit/>
          </a:bodyPr>
          <a:lstStyle/>
          <a:p/>
          <a:p>
            <a:pPr>
              <a:spcAft>
                <a:spcPts val="600"/>
              </a:spcAft>
              <a:defRPr sz="1700">
                <a:solidFill>
                  <a:srgbClr val="FFFFFF"/>
                </a:solidFill>
                <a:latin typeface="Segoe UI"/>
              </a:defRPr>
            </a:pPr>
            <a:r>
              <a:t>20–33% TTFT reduction with &lt; 0.13% overhead</a:t>
            </a:r>
          </a:p>
          <a:p>
            <a:pPr>
              <a:spcAft>
                <a:spcPts val="600"/>
              </a:spcAft>
              <a:defRPr sz="1700">
                <a:solidFill>
                  <a:srgbClr val="FFFFFF"/>
                </a:solidFill>
                <a:latin typeface="Segoe UI"/>
              </a:defRPr>
            </a:pPr>
            <a:r>
              <a:t>66% prefill computation saved at p50</a:t>
            </a:r>
          </a:p>
          <a:p>
            <a:pPr>
              <a:spcAft>
                <a:spcPts val="600"/>
              </a:spcAft>
              <a:defRPr sz="1700">
                <a:solidFill>
                  <a:srgbClr val="FFFFFF"/>
                </a:solidFill>
                <a:latin typeface="Segoe UI"/>
              </a:defRPr>
            </a:pPr>
            <a:r>
              <a:t>97.5% of oracle performance with O(k) greedy algorithm</a:t>
            </a:r>
          </a:p>
          <a:p>
            <a:pPr>
              <a:spcAft>
                <a:spcPts val="600"/>
              </a:spcAft>
              <a:defRPr sz="1700">
                <a:solidFill>
                  <a:srgbClr val="FFFFFF"/>
                </a:solidFill>
                <a:latin typeface="Segoe UI"/>
              </a:defRPr>
            </a:pPr>
            <a:r>
              <a:t>Zero engine modifications — ~150 lines of Python</a:t>
            </a:r>
          </a:p>
          <a:p>
            <a:pPr>
              <a:spcAft>
                <a:spcPts val="600"/>
              </a:spcAft>
              <a:defRPr sz="1700">
                <a:solidFill>
                  <a:srgbClr val="FFFFFF"/>
                </a:solidFill>
                <a:latin typeface="Segoe UI"/>
              </a:defRPr>
            </a:pPr>
            <a:r>
              <a:t>Closed-loop feedback with 99.5% prediction accuracy</a:t>
            </a:r>
          </a:p>
          <a:p>
            <a:pPr>
              <a:spcAft>
                <a:spcPts val="600"/>
              </a:spcAft>
              <a:defRPr sz="1700">
                <a:solidFill>
                  <a:srgbClr val="FFFFFF"/>
                </a:solidFill>
                <a:latin typeface="Segoe UI"/>
              </a:defRPr>
            </a:pPr>
            <a:r>
              <a:t>Robust across 4 model sizes, 2 architectures, 5 workloads</a:t>
            </a:r>
          </a:p>
        </p:txBody>
      </p:sp>
      <p:sp>
        <p:nvSpPr>
          <p:cNvPr id="9" name="Rounded Rectangle 8"/>
          <p:cNvSpPr/>
          <p:nvPr/>
        </p:nvSpPr>
        <p:spPr>
          <a:xfrm>
            <a:off x="7498079" y="2286000"/>
            <a:ext cx="2377440" cy="11887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0FF88"/>
                </a:solidFill>
                <a:latin typeface="Segoe UI"/>
              </a:defRPr>
            </a:pPr>
            <a:r>
              <a:t>20–33%</a:t>
            </a:r>
          </a:p>
          <a:p>
            <a:pPr algn="ctr">
              <a:defRPr sz="1200">
                <a:solidFill>
                  <a:srgbClr val="8B949E"/>
                </a:solidFill>
                <a:latin typeface="Consolas"/>
              </a:defRPr>
            </a:pPr>
            <a:r>
              <a:t>TTFT REDUCTION</a:t>
            </a:r>
          </a:p>
        </p:txBody>
      </p:sp>
      <p:sp>
        <p:nvSpPr>
          <p:cNvPr id="10" name="Rounded Rectangle 9"/>
          <p:cNvSpPr/>
          <p:nvPr/>
        </p:nvSpPr>
        <p:spPr>
          <a:xfrm>
            <a:off x="7498079" y="3749039"/>
            <a:ext cx="2377440" cy="11887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0FF88"/>
                </a:solidFill>
                <a:latin typeface="Segoe UI"/>
              </a:defRPr>
            </a:pPr>
            <a:r>
              <a:t>66%</a:t>
            </a:r>
          </a:p>
          <a:p>
            <a:pPr algn="ctr">
              <a:defRPr sz="1200">
                <a:solidFill>
                  <a:srgbClr val="8B949E"/>
                </a:solidFill>
                <a:latin typeface="Consolas"/>
              </a:defRPr>
            </a:pPr>
            <a:r>
              <a:t>PREFILL SAVED</a:t>
            </a:r>
          </a:p>
        </p:txBody>
      </p:sp>
      <p:sp>
        <p:nvSpPr>
          <p:cNvPr id="11" name="Rounded Rectangle 10"/>
          <p:cNvSpPr/>
          <p:nvPr/>
        </p:nvSpPr>
        <p:spPr>
          <a:xfrm>
            <a:off x="7498079" y="5212080"/>
            <a:ext cx="2377440" cy="11887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E3B341"/>
                </a:solidFill>
                <a:latin typeface="Segoe UI"/>
              </a:defRPr>
            </a:pPr>
            <a:r>
              <a:t>~150</a:t>
            </a:r>
          </a:p>
          <a:p>
            <a:pPr algn="ctr">
              <a:defRPr sz="1200">
                <a:solidFill>
                  <a:srgbClr val="8B949E"/>
                </a:solidFill>
                <a:latin typeface="Consolas"/>
              </a:defRPr>
            </a:pPr>
            <a:r>
              <a:t>LINES OF PYTHON</a:t>
            </a:r>
          </a:p>
        </p:txBody>
      </p:sp>
      <p:sp>
        <p:nvSpPr>
          <p:cNvPr id="12" name="Rounded Rectangle 11"/>
          <p:cNvSpPr/>
          <p:nvPr/>
        </p:nvSpPr>
        <p:spPr>
          <a:xfrm>
            <a:off x="548640" y="5760720"/>
            <a:ext cx="6400800" cy="822960"/>
          </a:xfrm>
          <a:prstGeom prst="roundRect">
            <a:avLst/>
          </a:prstGeom>
          <a:solidFill>
            <a:srgbClr val="0D3320"/>
          </a:solidFill>
          <a:ln>
            <a:solidFill>
              <a:srgbClr val="00FF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500" b="1">
                <a:solidFill>
                  <a:srgbClr val="00FF88"/>
                </a:solidFill>
                <a:latin typeface="Segoe UI"/>
              </a:defRPr>
            </a:pPr>
            <a:r>
              <a:t>  Key systems insight: prefix depth &gt; hit count for latency reduction</a:t>
            </a:r>
          </a:p>
        </p:txBody>
      </p:sp>
      <p:sp>
        <p:nvSpPr>
          <p:cNvPr id="13" name="TextBox 12"/>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cxnSp>
        <p:nvCxnSpPr>
          <p:cNvPr id="2" name="Connector 1"/>
          <p:cNvCxnSpPr/>
          <p:nvPr/>
        </p:nvCxnSpPr>
        <p:spPr>
          <a:xfrm>
            <a:off x="0" y="2743200"/>
            <a:ext cx="4572000" cy="0"/>
          </a:xfrm>
          <a:prstGeom prst="line">
            <a:avLst/>
          </a:prstGeom>
          <a:ln w="12700">
            <a:solidFill>
              <a:srgbClr val="1A3A25"/>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4572000" y="268833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681728" y="2743200"/>
            <a:ext cx="2633472" cy="0"/>
          </a:xfrm>
          <a:prstGeom prst="line">
            <a:avLst/>
          </a:prstGeom>
          <a:ln w="19050">
            <a:solidFill>
              <a:srgbClr val="00FF88"/>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7315200" y="2688336"/>
            <a:ext cx="109728" cy="109728"/>
          </a:xfrm>
          <a:prstGeom prst="ellipse">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7424927" y="2743200"/>
            <a:ext cx="4736593" cy="0"/>
          </a:xfrm>
          <a:prstGeom prst="line">
            <a:avLst/>
          </a:prstGeom>
          <a:ln w="12700">
            <a:solidFill>
              <a:srgbClr val="1A3A2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1371600"/>
            <a:ext cx="10972800" cy="1371600"/>
          </a:xfrm>
          <a:prstGeom prst="rect">
            <a:avLst/>
          </a:prstGeom>
          <a:noFill/>
        </p:spPr>
        <p:txBody>
          <a:bodyPr wrap="square">
            <a:spAutoFit/>
          </a:bodyPr>
          <a:lstStyle/>
          <a:p>
            <a:pPr algn="ctr">
              <a:spcAft>
                <a:spcPts val="600"/>
              </a:spcAft>
              <a:defRPr sz="5200" b="1">
                <a:solidFill>
                  <a:srgbClr val="FFFFFF"/>
                </a:solidFill>
                <a:latin typeface="Segoe UI"/>
              </a:defRPr>
            </a:pPr>
            <a:r>
              <a:t>Thank You</a:t>
            </a:r>
          </a:p>
        </p:txBody>
      </p:sp>
      <p:sp>
        <p:nvSpPr>
          <p:cNvPr id="8" name="TextBox 7"/>
          <p:cNvSpPr txBox="1"/>
          <p:nvPr/>
        </p:nvSpPr>
        <p:spPr>
          <a:xfrm>
            <a:off x="548640" y="3200400"/>
            <a:ext cx="10972800" cy="914400"/>
          </a:xfrm>
          <a:prstGeom prst="rect">
            <a:avLst/>
          </a:prstGeom>
          <a:noFill/>
        </p:spPr>
        <p:txBody>
          <a:bodyPr wrap="square">
            <a:spAutoFit/>
          </a:bodyPr>
          <a:lstStyle/>
          <a:p>
            <a:pPr algn="ctr">
              <a:spcAft>
                <a:spcPts val="600"/>
              </a:spcAft>
              <a:defRPr sz="3200" b="0">
                <a:solidFill>
                  <a:srgbClr val="00FF88"/>
                </a:solidFill>
                <a:latin typeface="Segoe UI"/>
              </a:defRPr>
            </a:pPr>
            <a:r>
              <a:t>Questions?</a:t>
            </a:r>
          </a:p>
        </p:txBody>
      </p:sp>
      <p:sp>
        <p:nvSpPr>
          <p:cNvPr id="9" name="TextBox 8"/>
          <p:cNvSpPr txBox="1"/>
          <p:nvPr/>
        </p:nvSpPr>
        <p:spPr>
          <a:xfrm>
            <a:off x="2286000" y="4572000"/>
            <a:ext cx="7315200" cy="1645920"/>
          </a:xfrm>
          <a:prstGeom prst="rect">
            <a:avLst/>
          </a:prstGeom>
          <a:noFill/>
        </p:spPr>
        <p:txBody>
          <a:bodyPr wrap="square">
            <a:spAutoFit/>
          </a:bodyPr>
          <a:lstStyle/>
          <a:p>
            <a:pPr algn="ctr">
              <a:spcAft>
                <a:spcPts val="400"/>
              </a:spcAft>
              <a:defRPr sz="1600" b="0">
                <a:solidFill>
                  <a:srgbClr val="FFFFFF"/>
                </a:solidFill>
                <a:latin typeface="Segoe UI"/>
              </a:defRPr>
            </a:pPr>
            <a:r>
              <a:t>Kaizhen Tan  •  kaizhent@cmu.edu</a:t>
            </a:r>
          </a:p>
          <a:p>
            <a:pPr algn="ctr">
              <a:spcAft>
                <a:spcPts val="400"/>
              </a:spcAft>
              <a:defRPr sz="1600" b="0">
                <a:solidFill>
                  <a:srgbClr val="FFFFFF"/>
                </a:solidFill>
                <a:latin typeface="Segoe UI"/>
              </a:defRPr>
            </a:pPr>
            <a:r>
              <a:t>Rong Gu  •  ronggu@andrew.cmu.edu</a:t>
            </a:r>
          </a:p>
          <a:p>
            <a:pPr algn="ctr">
              <a:spcAft>
                <a:spcPts val="1400"/>
              </a:spcAft>
              <a:defRPr sz="1600" b="0">
                <a:solidFill>
                  <a:srgbClr val="FFFFFF"/>
                </a:solidFill>
                <a:latin typeface="Segoe UI"/>
              </a:defRPr>
            </a:pPr>
            <a:r>
              <a:t>Mingyuan Li  •  mingyua4@andrew.cmu.edu</a:t>
            </a:r>
          </a:p>
          <a:p>
            <a:pPr algn="ctr">
              <a:spcAft>
                <a:spcPts val="600"/>
              </a:spcAft>
              <a:defRPr sz="1400" b="0">
                <a:solidFill>
                  <a:srgbClr val="00FF88"/>
                </a:solidFill>
                <a:latin typeface="Consolas"/>
              </a:defRPr>
            </a:pPr>
            <a:r>
              <a:t>github.com/tantansir/RAGCachePlusPlus</a:t>
            </a:r>
          </a:p>
        </p:txBody>
      </p:sp>
      <p:sp>
        <p:nvSpPr>
          <p:cNvPr id="10" name="TextBox 9"/>
          <p:cNvSpPr txBox="1"/>
          <p:nvPr/>
        </p:nvSpPr>
        <p:spPr>
          <a:xfrm>
            <a:off x="11338560" y="6400800"/>
            <a:ext cx="822960" cy="365760"/>
          </a:xfrm>
          <a:prstGeom prst="rect">
            <a:avLst/>
          </a:prstGeom>
          <a:noFill/>
        </p:spPr>
        <p:txBody>
          <a:bodyPr wrap="square">
            <a:spAutoFit/>
          </a:bodyPr>
          <a:lstStyle/>
          <a:p>
            <a:pPr algn="r">
              <a:spcAft>
                <a:spcPts val="600"/>
              </a:spcAft>
              <a:defRPr sz="1000" b="0">
                <a:solidFill>
                  <a:srgbClr val="484F58"/>
                </a:solidFill>
                <a:latin typeface="Consolas"/>
              </a:defRPr>
            </a:pPr>
            <a:r>
              <a:t>16/16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